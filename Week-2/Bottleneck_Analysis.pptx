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411" r:id="rId6"/>
    <p:sldId id="412" r:id="rId7"/>
    <p:sldId id="414" r:id="rId8"/>
    <p:sldId id="4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57" d="100"/>
          <a:sy n="57" d="100"/>
        </p:scale>
        <p:origin x="48" y="4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F770AC-894A-4C15-9ACD-8AB6989BEB0B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3F68690-C418-4C4B-B391-5B39F3775B33}">
      <dgm:prSet/>
      <dgm:spPr/>
      <dgm:t>
        <a:bodyPr/>
        <a:lstStyle/>
        <a:p>
          <a:r>
            <a:rPr lang="en-US" b="1" i="0" dirty="0">
              <a:solidFill>
                <a:schemeClr val="bg1"/>
              </a:solidFill>
            </a:rPr>
            <a:t>DB-Bound</a:t>
          </a:r>
          <a:endParaRPr lang="en-US" dirty="0">
            <a:solidFill>
              <a:schemeClr val="bg1"/>
            </a:solidFill>
          </a:endParaRPr>
        </a:p>
      </dgm:t>
    </dgm:pt>
    <dgm:pt modelId="{1E682999-8F7B-4B37-9997-765BEF1DB7CF}" type="parTrans" cxnId="{8DF3B304-A2AF-45EE-97A1-39CF87B2587A}">
      <dgm:prSet/>
      <dgm:spPr/>
      <dgm:t>
        <a:bodyPr/>
        <a:lstStyle/>
        <a:p>
          <a:endParaRPr lang="en-US"/>
        </a:p>
      </dgm:t>
    </dgm:pt>
    <dgm:pt modelId="{5EE2C80E-6243-4A7D-B535-D71B3B0BBD22}" type="sibTrans" cxnId="{8DF3B304-A2AF-45EE-97A1-39CF87B2587A}">
      <dgm:prSet/>
      <dgm:spPr/>
      <dgm:t>
        <a:bodyPr/>
        <a:lstStyle/>
        <a:p>
          <a:endParaRPr lang="en-US"/>
        </a:p>
      </dgm:t>
    </dgm:pt>
    <dgm:pt modelId="{A4662E2B-0E51-453F-8BB6-93F92683D353}">
      <dgm:prSet/>
      <dgm:spPr/>
      <dgm:t>
        <a:bodyPr/>
        <a:lstStyle/>
        <a:p>
          <a:r>
            <a:rPr lang="en-US" b="1" i="0" dirty="0">
              <a:solidFill>
                <a:schemeClr val="bg1"/>
              </a:solidFill>
            </a:rPr>
            <a:t>CPU-Bound</a:t>
          </a:r>
          <a:endParaRPr lang="en-US" dirty="0">
            <a:solidFill>
              <a:schemeClr val="bg1"/>
            </a:solidFill>
          </a:endParaRPr>
        </a:p>
      </dgm:t>
    </dgm:pt>
    <dgm:pt modelId="{2F325B9F-3C15-4BE1-B4C4-58F9402C3D5A}" type="parTrans" cxnId="{B8A316AD-D29E-478F-96C1-E5934AFCEE14}">
      <dgm:prSet/>
      <dgm:spPr/>
      <dgm:t>
        <a:bodyPr/>
        <a:lstStyle/>
        <a:p>
          <a:endParaRPr lang="en-US"/>
        </a:p>
      </dgm:t>
    </dgm:pt>
    <dgm:pt modelId="{CD60E783-1DE1-445E-AE19-60EDDD868C82}" type="sibTrans" cxnId="{B8A316AD-D29E-478F-96C1-E5934AFCEE14}">
      <dgm:prSet/>
      <dgm:spPr/>
      <dgm:t>
        <a:bodyPr/>
        <a:lstStyle/>
        <a:p>
          <a:endParaRPr lang="en-US"/>
        </a:p>
      </dgm:t>
    </dgm:pt>
    <dgm:pt modelId="{80E1A7F8-22BC-4A13-A13A-547FFEF068A6}" type="pres">
      <dgm:prSet presAssocID="{67F770AC-894A-4C15-9ACD-8AB6989BEB0B}" presName="root" presStyleCnt="0">
        <dgm:presLayoutVars>
          <dgm:dir/>
          <dgm:resizeHandles val="exact"/>
        </dgm:presLayoutVars>
      </dgm:prSet>
      <dgm:spPr/>
    </dgm:pt>
    <dgm:pt modelId="{40B92BC7-0C46-4310-8056-F51216C82480}" type="pres">
      <dgm:prSet presAssocID="{C3F68690-C418-4C4B-B391-5B39F3775B33}" presName="compNode" presStyleCnt="0"/>
      <dgm:spPr/>
    </dgm:pt>
    <dgm:pt modelId="{046C0D5D-0BBA-4DCB-A7B7-F4DEFCD5BE7C}" type="pres">
      <dgm:prSet presAssocID="{C3F68690-C418-4C4B-B391-5B39F3775B3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80FA023-9F40-4505-911A-14BC83B68CEB}" type="pres">
      <dgm:prSet presAssocID="{C3F68690-C418-4C4B-B391-5B39F3775B33}" presName="spaceRect" presStyleCnt="0"/>
      <dgm:spPr/>
    </dgm:pt>
    <dgm:pt modelId="{47906AC3-D02F-498D-996A-DD3954FA6525}" type="pres">
      <dgm:prSet presAssocID="{C3F68690-C418-4C4B-B391-5B39F3775B33}" presName="textRect" presStyleLbl="revTx" presStyleIdx="0" presStyleCnt="2">
        <dgm:presLayoutVars>
          <dgm:chMax val="1"/>
          <dgm:chPref val="1"/>
        </dgm:presLayoutVars>
      </dgm:prSet>
      <dgm:spPr/>
    </dgm:pt>
    <dgm:pt modelId="{DC721F24-09EF-4A05-A740-53B68E4A72D3}" type="pres">
      <dgm:prSet presAssocID="{5EE2C80E-6243-4A7D-B535-D71B3B0BBD22}" presName="sibTrans" presStyleCnt="0"/>
      <dgm:spPr/>
    </dgm:pt>
    <dgm:pt modelId="{D794F7BE-236D-4688-AF7F-264C886A9FA8}" type="pres">
      <dgm:prSet presAssocID="{A4662E2B-0E51-453F-8BB6-93F92683D353}" presName="compNode" presStyleCnt="0"/>
      <dgm:spPr/>
    </dgm:pt>
    <dgm:pt modelId="{3AE21156-A053-47D2-8047-121DC9A8DD07}" type="pres">
      <dgm:prSet presAssocID="{A4662E2B-0E51-453F-8BB6-93F92683D35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298F20C-4A8B-47A4-AEA4-76560FC594B7}" type="pres">
      <dgm:prSet presAssocID="{A4662E2B-0E51-453F-8BB6-93F92683D353}" presName="spaceRect" presStyleCnt="0"/>
      <dgm:spPr/>
    </dgm:pt>
    <dgm:pt modelId="{813740D8-9FDA-4AA0-BF3D-90DF8F3F23C2}" type="pres">
      <dgm:prSet presAssocID="{A4662E2B-0E51-453F-8BB6-93F92683D35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DF3B304-A2AF-45EE-97A1-39CF87B2587A}" srcId="{67F770AC-894A-4C15-9ACD-8AB6989BEB0B}" destId="{C3F68690-C418-4C4B-B391-5B39F3775B33}" srcOrd="0" destOrd="0" parTransId="{1E682999-8F7B-4B37-9997-765BEF1DB7CF}" sibTransId="{5EE2C80E-6243-4A7D-B535-D71B3B0BBD22}"/>
    <dgm:cxn modelId="{3F141B06-7BE9-42B3-ADAC-7735448DE033}" type="presOf" srcId="{67F770AC-894A-4C15-9ACD-8AB6989BEB0B}" destId="{80E1A7F8-22BC-4A13-A13A-547FFEF068A6}" srcOrd="0" destOrd="0" presId="urn:microsoft.com/office/officeart/2018/2/layout/IconLabelList"/>
    <dgm:cxn modelId="{AEA92728-583D-4840-9347-9C78AE94E2B6}" type="presOf" srcId="{A4662E2B-0E51-453F-8BB6-93F92683D353}" destId="{813740D8-9FDA-4AA0-BF3D-90DF8F3F23C2}" srcOrd="0" destOrd="0" presId="urn:microsoft.com/office/officeart/2018/2/layout/IconLabelList"/>
    <dgm:cxn modelId="{0C425D97-8900-452B-8776-A4CEF720B7AC}" type="presOf" srcId="{C3F68690-C418-4C4B-B391-5B39F3775B33}" destId="{47906AC3-D02F-498D-996A-DD3954FA6525}" srcOrd="0" destOrd="0" presId="urn:microsoft.com/office/officeart/2018/2/layout/IconLabelList"/>
    <dgm:cxn modelId="{B8A316AD-D29E-478F-96C1-E5934AFCEE14}" srcId="{67F770AC-894A-4C15-9ACD-8AB6989BEB0B}" destId="{A4662E2B-0E51-453F-8BB6-93F92683D353}" srcOrd="1" destOrd="0" parTransId="{2F325B9F-3C15-4BE1-B4C4-58F9402C3D5A}" sibTransId="{CD60E783-1DE1-445E-AE19-60EDDD868C82}"/>
    <dgm:cxn modelId="{7A13F30E-3108-446B-B6BF-E582A6930144}" type="presParOf" srcId="{80E1A7F8-22BC-4A13-A13A-547FFEF068A6}" destId="{40B92BC7-0C46-4310-8056-F51216C82480}" srcOrd="0" destOrd="0" presId="urn:microsoft.com/office/officeart/2018/2/layout/IconLabelList"/>
    <dgm:cxn modelId="{11713B79-EC20-49D9-A0B8-6EF0BEC0D008}" type="presParOf" srcId="{40B92BC7-0C46-4310-8056-F51216C82480}" destId="{046C0D5D-0BBA-4DCB-A7B7-F4DEFCD5BE7C}" srcOrd="0" destOrd="0" presId="urn:microsoft.com/office/officeart/2018/2/layout/IconLabelList"/>
    <dgm:cxn modelId="{A741C90B-1238-4D6D-AA6D-B1377957E808}" type="presParOf" srcId="{40B92BC7-0C46-4310-8056-F51216C82480}" destId="{880FA023-9F40-4505-911A-14BC83B68CEB}" srcOrd="1" destOrd="0" presId="urn:microsoft.com/office/officeart/2018/2/layout/IconLabelList"/>
    <dgm:cxn modelId="{AA5F75B3-A4CB-4837-AFCC-3A72D40FDCF8}" type="presParOf" srcId="{40B92BC7-0C46-4310-8056-F51216C82480}" destId="{47906AC3-D02F-498D-996A-DD3954FA6525}" srcOrd="2" destOrd="0" presId="urn:microsoft.com/office/officeart/2018/2/layout/IconLabelList"/>
    <dgm:cxn modelId="{FECD4204-D82D-4FEC-98C9-574583216C73}" type="presParOf" srcId="{80E1A7F8-22BC-4A13-A13A-547FFEF068A6}" destId="{DC721F24-09EF-4A05-A740-53B68E4A72D3}" srcOrd="1" destOrd="0" presId="urn:microsoft.com/office/officeart/2018/2/layout/IconLabelList"/>
    <dgm:cxn modelId="{CDB103DA-60E2-4A93-913D-209EABBE47B4}" type="presParOf" srcId="{80E1A7F8-22BC-4A13-A13A-547FFEF068A6}" destId="{D794F7BE-236D-4688-AF7F-264C886A9FA8}" srcOrd="2" destOrd="0" presId="urn:microsoft.com/office/officeart/2018/2/layout/IconLabelList"/>
    <dgm:cxn modelId="{4118A7FA-BB38-4D63-89DD-67FF6510671C}" type="presParOf" srcId="{D794F7BE-236D-4688-AF7F-264C886A9FA8}" destId="{3AE21156-A053-47D2-8047-121DC9A8DD07}" srcOrd="0" destOrd="0" presId="urn:microsoft.com/office/officeart/2018/2/layout/IconLabelList"/>
    <dgm:cxn modelId="{18FC4DA0-AEE0-4747-9419-B37DD6A77547}" type="presParOf" srcId="{D794F7BE-236D-4688-AF7F-264C886A9FA8}" destId="{E298F20C-4A8B-47A4-AEA4-76560FC594B7}" srcOrd="1" destOrd="0" presId="urn:microsoft.com/office/officeart/2018/2/layout/IconLabelList"/>
    <dgm:cxn modelId="{8F87950C-7FE7-4418-960B-3F24DC2E5EE6}" type="presParOf" srcId="{D794F7BE-236D-4688-AF7F-264C886A9FA8}" destId="{813740D8-9FDA-4AA0-BF3D-90DF8F3F23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C0D5D-0BBA-4DCB-A7B7-F4DEFCD5BE7C}">
      <dsp:nvSpPr>
        <dsp:cNvPr id="0" name=""/>
        <dsp:cNvSpPr/>
      </dsp:nvSpPr>
      <dsp:spPr>
        <a:xfrm>
          <a:off x="1976400" y="25111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06AC3-D02F-498D-996A-DD3954FA6525}">
      <dsp:nvSpPr>
        <dsp:cNvPr id="0" name=""/>
        <dsp:cNvSpPr/>
      </dsp:nvSpPr>
      <dsp:spPr>
        <a:xfrm>
          <a:off x="788400" y="266562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>
              <a:solidFill>
                <a:schemeClr val="bg1"/>
              </a:solidFill>
            </a:rPr>
            <a:t>DB-Bound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788400" y="2665621"/>
        <a:ext cx="4320000" cy="720000"/>
      </dsp:txXfrm>
    </dsp:sp>
    <dsp:sp modelId="{3AE21156-A053-47D2-8047-121DC9A8DD07}">
      <dsp:nvSpPr>
        <dsp:cNvPr id="0" name=""/>
        <dsp:cNvSpPr/>
      </dsp:nvSpPr>
      <dsp:spPr>
        <a:xfrm>
          <a:off x="7052400" y="25111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740D8-9FDA-4AA0-BF3D-90DF8F3F23C2}">
      <dsp:nvSpPr>
        <dsp:cNvPr id="0" name=""/>
        <dsp:cNvSpPr/>
      </dsp:nvSpPr>
      <dsp:spPr>
        <a:xfrm>
          <a:off x="5864400" y="266562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i="0" kern="1200" dirty="0">
              <a:solidFill>
                <a:schemeClr val="bg1"/>
              </a:solidFill>
            </a:rPr>
            <a:t>CPU-Bound</a:t>
          </a:r>
          <a:endParaRPr lang="en-US" sz="5000" kern="1200" dirty="0">
            <a:solidFill>
              <a:schemeClr val="bg1"/>
            </a:solidFill>
          </a:endParaRPr>
        </a:p>
      </dsp:txBody>
      <dsp:txXfrm>
        <a:off x="5864400" y="266562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83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Bottleneck Analysis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5047-8146-900E-8838-973965A4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</p:spPr>
        <p:txBody>
          <a:bodyPr anchor="b">
            <a:normAutofit/>
          </a:bodyPr>
          <a:lstStyle/>
          <a:p>
            <a:r>
              <a:rPr lang="en-US" dirty="0"/>
              <a:t>Classification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FF9D34-D6F8-1EAC-BCE1-BE0AAA14B6BC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294135992"/>
              </p:ext>
            </p:extLst>
          </p:nvPr>
        </p:nvGraphicFramePr>
        <p:xfrm>
          <a:off x="594360" y="2628629"/>
          <a:ext cx="10972800" cy="363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676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F1A7-C81E-9811-6819-A8394669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Times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3410712"/>
            <a:ext cx="103784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4360" y="4645152"/>
            <a:ext cx="103784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2308523"/>
            <a:ext cx="475488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chemeClr val="accent3"/>
                </a:solidFill>
                <a:latin typeface="Franklin Gothic Dem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371752"/>
            <a:ext cx="2103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chemeClr val="dk1"/>
                </a:solidFill>
                <a:latin typeface="Franklin Gothic Demi"/>
              </a:rPr>
              <a:t>BREAK DOWN THE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598566"/>
            <a:ext cx="210312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>
                <a:solidFill>
                  <a:schemeClr val="tx2"/>
                </a:solidFill>
                <a:latin typeface="Franklin Gothic Book"/>
              </a:rPr>
              <a:t>Separate application, database, network, and dependency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2395728"/>
            <a:ext cx="409651" cy="38404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66083" y="2395728"/>
            <a:ext cx="1638604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66083" y="2503113"/>
            <a:ext cx="163860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chemeClr val="dk1"/>
                </a:solidFill>
                <a:latin typeface="Franklin Gothic Demi"/>
              </a:rPr>
              <a:t>DB WAIT ·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865974"/>
            <a:ext cx="204825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chemeClr val="tx2"/>
                </a:solidFill>
                <a:latin typeface="Franklin Gothic Demi"/>
              </a:rPr>
              <a:t>OTHER 20%        DATABASE 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738069"/>
            <a:ext cx="306324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2"/>
                </a:solidFill>
                <a:latin typeface="Franklin Gothic Demi"/>
              </a:rPr>
              <a:t>Optimize the dominant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2"/>
                </a:solidFill>
                <a:latin typeface="Franklin Gothic Demi"/>
              </a:rPr>
              <a:t>component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1251"/>
            <a:ext cx="475488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chemeClr val="accent3"/>
                </a:solidFill>
                <a:latin typeface="Franklin Gothic Dem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24480"/>
            <a:ext cx="2103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chemeClr val="dk1"/>
                </a:solidFill>
                <a:latin typeface="Franklin Gothic Demi"/>
              </a:rPr>
              <a:t>TRACE SLOW 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851294"/>
            <a:ext cx="2103120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>
                <a:solidFill>
                  <a:schemeClr val="tx2"/>
                </a:solidFill>
                <a:latin typeface="Franklin Gothic Book"/>
              </a:rPr>
              <a:t>High wait times and slow log entries point to database-bound work.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67328" y="3959352"/>
            <a:ext cx="480974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11880" y="3785615"/>
            <a:ext cx="347472" cy="3474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lt1"/>
                </a:solidFill>
                <a:latin typeface="Franklin Gothic Dem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44375"/>
            <a:ext cx="98755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dk1"/>
                </a:solidFill>
                <a:latin typeface="Franklin Gothic Demi"/>
              </a:rPr>
              <a:t>SLOW-QUERY
LOGS</a:t>
            </a:r>
          </a:p>
        </p:txBody>
      </p:sp>
      <p:sp>
        <p:nvSpPr>
          <p:cNvPr id="19" name="Oval 18"/>
          <p:cNvSpPr/>
          <p:nvPr/>
        </p:nvSpPr>
        <p:spPr>
          <a:xfrm>
            <a:off x="6016752" y="3785615"/>
            <a:ext cx="347472" cy="34747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lt1"/>
                </a:solidFill>
                <a:latin typeface="Franklin Gothic Dem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4244375"/>
            <a:ext cx="98755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dk1"/>
                </a:solidFill>
                <a:latin typeface="Franklin Gothic Demi"/>
              </a:rPr>
              <a:t>EXECUTION
PLANS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3785615"/>
            <a:ext cx="347472" cy="3474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dk1"/>
                </a:solidFill>
                <a:latin typeface="Franklin Gothic Dem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244375"/>
            <a:ext cx="98755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dk1"/>
                </a:solidFill>
                <a:latin typeface="Franklin Gothic Demi"/>
              </a:rPr>
              <a:t>QUERY
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3859881"/>
            <a:ext cx="205740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chemeClr val="tx2"/>
                </a:solidFill>
                <a:latin typeface="Franklin Gothic Demi"/>
              </a:rPr>
              <a:t>The signals converge on
problematic SQL.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95691"/>
            <a:ext cx="475488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1">
                <a:solidFill>
                  <a:schemeClr val="accent3"/>
                </a:solidFill>
                <a:latin typeface="Franklin Gothic Dem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858920"/>
            <a:ext cx="210312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chemeClr val="dk1"/>
                </a:solidFill>
                <a:latin typeface="Franklin Gothic Demi"/>
              </a:rPr>
              <a:t>READ CPU +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12064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>
                <a:solidFill>
                  <a:schemeClr val="tx2"/>
                </a:solidFill>
                <a:latin typeface="Franklin Gothic Book"/>
              </a:rPr>
              <a:t>Low CPU with high latency means the system is waiting—not working.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831041"/>
            <a:ext cx="1572768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chemeClr val="accent3"/>
                </a:solidFill>
                <a:latin typeface="Franklin Gothic Demi"/>
              </a:rPr>
              <a:t>LATENCY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4831041"/>
            <a:ext cx="2743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chemeClr val="dk1"/>
                </a:solidFill>
                <a:latin typeface="Franklin Gothic Demi"/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360" y="4831041"/>
            <a:ext cx="1078992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 dirty="0">
                <a:solidFill>
                  <a:schemeClr val="tx2"/>
                </a:solidFill>
                <a:latin typeface="Franklin Gothic Demi"/>
              </a:rPr>
              <a:t>CPU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831041"/>
            <a:ext cx="347472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chemeClr val="dk1"/>
                </a:solidFill>
                <a:latin typeface="Franklin Gothic Demi"/>
              </a:rPr>
              <a:t>=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807958"/>
            <a:ext cx="188366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chemeClr val="dk1"/>
                </a:solidFill>
                <a:latin typeface="Franklin Gothic Demi"/>
              </a:rPr>
              <a:t>WAITING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5342102"/>
            <a:ext cx="6172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chemeClr val="dk1"/>
                </a:solidFill>
                <a:latin typeface="Franklin Gothic Demi"/>
              </a:rPr>
              <a:t>Check the database, disk, network, and external dependencies.</a:t>
            </a:r>
          </a:p>
        </p:txBody>
      </p:sp>
      <p:sp>
        <p:nvSpPr>
          <p:cNvPr id="33" name="Oval 32"/>
          <p:cNvSpPr/>
          <p:nvPr/>
        </p:nvSpPr>
        <p:spPr>
          <a:xfrm>
            <a:off x="3456432" y="5733288"/>
            <a:ext cx="118872" cy="118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30168" y="5720352"/>
            <a:ext cx="13898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tx2"/>
                </a:solidFill>
                <a:latin typeface="Franklin Gothic Demi"/>
              </a:rPr>
              <a:t>DATABASE</a:t>
            </a:r>
          </a:p>
        </p:txBody>
      </p:sp>
      <p:sp>
        <p:nvSpPr>
          <p:cNvPr id="35" name="Oval 34"/>
          <p:cNvSpPr/>
          <p:nvPr/>
        </p:nvSpPr>
        <p:spPr>
          <a:xfrm>
            <a:off x="5239512" y="5733288"/>
            <a:ext cx="118872" cy="118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13248" y="5720352"/>
            <a:ext cx="13898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tx2"/>
                </a:solidFill>
                <a:latin typeface="Franklin Gothic Demi"/>
              </a:rPr>
              <a:t>DISK</a:t>
            </a:r>
          </a:p>
        </p:txBody>
      </p:sp>
      <p:sp>
        <p:nvSpPr>
          <p:cNvPr id="37" name="Oval 36"/>
          <p:cNvSpPr/>
          <p:nvPr/>
        </p:nvSpPr>
        <p:spPr>
          <a:xfrm>
            <a:off x="6519672" y="5733288"/>
            <a:ext cx="118872" cy="1188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93408" y="5720352"/>
            <a:ext cx="13898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tx2"/>
                </a:solidFill>
                <a:latin typeface="Franklin Gothic Demi"/>
              </a:rPr>
              <a:t>NETWORK</a:t>
            </a:r>
          </a:p>
        </p:txBody>
      </p:sp>
      <p:sp>
        <p:nvSpPr>
          <p:cNvPr id="39" name="Oval 38"/>
          <p:cNvSpPr/>
          <p:nvPr/>
        </p:nvSpPr>
        <p:spPr>
          <a:xfrm>
            <a:off x="8275320" y="5733288"/>
            <a:ext cx="118872" cy="1188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49056" y="5720352"/>
            <a:ext cx="138988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chemeClr val="tx2"/>
                </a:solidFill>
                <a:latin typeface="Franklin Gothic Demi"/>
              </a:rPr>
              <a:t>EXTERNAL API</a:t>
            </a:r>
          </a:p>
        </p:txBody>
      </p:sp>
    </p:spTree>
    <p:extLst>
      <p:ext uri="{BB962C8B-B14F-4D97-AF65-F5344CB8AC3E}">
        <p14:creationId xmlns:p14="http://schemas.microsoft.com/office/powerpoint/2010/main" val="224210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A060-463B-2387-3905-F4C6C105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26771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chemeClr val="tx2"/>
                </a:solidFill>
                <a:latin typeface="Franklin Gothic Demi"/>
              </a:rPr>
              <a:t>Follow the request through each application layer.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493008"/>
            <a:ext cx="2304288" cy="126187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" y="3630168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chemeClr val="dk1"/>
                </a:solidFill>
                <a:latin typeface="Franklin Gothic Demi"/>
              </a:rPr>
              <a:t>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385876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dk1"/>
                </a:solidFill>
                <a:latin typeface="Franklin Gothic Dem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4279392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Franklin Gothic Book"/>
              </a:rPr>
              <a:t>Receives the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3493008"/>
            <a:ext cx="2304288" cy="126187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22776" y="3630168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chemeClr val="lt1"/>
                </a:solidFill>
                <a:latin typeface="Franklin Gothic Demi"/>
              </a:rPr>
              <a:t>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2776" y="385876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lt1"/>
                </a:solidFill>
                <a:latin typeface="Franklin Gothic Dem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4279392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lt1"/>
                </a:solidFill>
                <a:latin typeface="Franklin Gothic Book"/>
              </a:rPr>
              <a:t>Applies business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493008"/>
            <a:ext cx="2304288" cy="126187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3493008"/>
            <a:ext cx="91440" cy="12618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03136" y="3630168"/>
            <a:ext cx="18653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chemeClr val="dk1"/>
                </a:solidFill>
                <a:latin typeface="Franklin Gothic Demi"/>
              </a:rPr>
              <a:t>DATA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3858768"/>
            <a:ext cx="18653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dk1"/>
                </a:solidFill>
                <a:latin typeface="Franklin Gothic Demi"/>
              </a:rPr>
              <a:t>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4279392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dk1"/>
                </a:solidFill>
                <a:latin typeface="Franklin Gothic Book"/>
              </a:rPr>
              <a:t>Queries and maps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27248" y="4123944"/>
            <a:ext cx="576072" cy="0"/>
          </a:xfrm>
          <a:prstGeom prst="line">
            <a:avLst/>
          </a:prstGeom>
          <a:ln w="28575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07608" y="4123944"/>
            <a:ext cx="576072" cy="0"/>
          </a:xfrm>
          <a:prstGeom prst="line">
            <a:avLst/>
          </a:prstGeom>
          <a:ln w="28575">
            <a:solidFill>
              <a:schemeClr val="tx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887968" y="4123944"/>
            <a:ext cx="896112" cy="0"/>
          </a:xfrm>
          <a:prstGeom prst="line">
            <a:avLst/>
          </a:prstGeom>
          <a:ln w="38100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n 19"/>
          <p:cNvSpPr/>
          <p:nvPr/>
        </p:nvSpPr>
        <p:spPr>
          <a:xfrm>
            <a:off x="9784080" y="3602736"/>
            <a:ext cx="1143000" cy="1042415"/>
          </a:xfrm>
          <a:prstGeom prst="can">
            <a:avLst/>
          </a:prstGeom>
          <a:solidFill>
            <a:schemeClr val="lt1"/>
          </a:solidFill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389534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chemeClr val="accent3"/>
                </a:solidFill>
                <a:latin typeface="Franklin Gothic Demi"/>
              </a:rPr>
              <a:t>DATABASE</a:t>
            </a:r>
          </a:p>
        </p:txBody>
      </p:sp>
      <p:sp>
        <p:nvSpPr>
          <p:cNvPr id="22" name="Oval 21"/>
          <p:cNvSpPr/>
          <p:nvPr/>
        </p:nvSpPr>
        <p:spPr>
          <a:xfrm>
            <a:off x="8613648" y="3264408"/>
            <a:ext cx="438912" cy="43891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l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>
                <a:solidFill>
                  <a:schemeClr val="lt1"/>
                </a:solidFill>
                <a:latin typeface="Franklin Gothic Dem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5065776"/>
            <a:ext cx="91440" cy="64008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50200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accent5"/>
                </a:solidFill>
                <a:latin typeface="Franklin Gothic Demi"/>
              </a:rPr>
              <a:t>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53035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2"/>
                </a:solidFill>
                <a:latin typeface="Franklin Gothic Book"/>
              </a:rPr>
              <a:t>Wait time accumulates in the repository layer.</a:t>
            </a:r>
          </a:p>
        </p:txBody>
      </p:sp>
    </p:spTree>
    <p:extLst>
      <p:ext uri="{BB962C8B-B14F-4D97-AF65-F5344CB8AC3E}">
        <p14:creationId xmlns:p14="http://schemas.microsoft.com/office/powerpoint/2010/main" val="249257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5AA0-5A6C-F219-5AE9-B9007C29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240280"/>
            <a:ext cx="60807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chemeClr val="tx2"/>
                </a:solidFill>
                <a:latin typeface="Franklin Gothic Demi"/>
              </a:rPr>
              <a:t>Treat every external system as an unreliable black box.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3127248"/>
            <a:ext cx="7754112" cy="0"/>
          </a:xfrm>
          <a:prstGeom prst="line">
            <a:avLst/>
          </a:prstGeom>
          <a:ln w="38100">
            <a:solidFill>
              <a:schemeClr val="accent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40080" y="2907792"/>
            <a:ext cx="438912" cy="438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lt1"/>
                </a:solidFill>
                <a:latin typeface="Franklin Gothic Dem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5643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chemeClr val="dk1"/>
                </a:solidFill>
                <a:latin typeface="Franklin Gothic Demi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05601"/>
            <a:ext cx="226771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Track external-call </a:t>
            </a:r>
            <a:endParaRPr lang="en-US" sz="1300" b="0" dirty="0">
              <a:solidFill>
                <a:schemeClr val="tx2"/>
              </a:solidFill>
              <a:latin typeface="Franklin Gothic Boo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latency and error rates.</a:t>
            </a:r>
          </a:p>
        </p:txBody>
      </p:sp>
      <p:sp>
        <p:nvSpPr>
          <p:cNvPr id="8" name="Oval 7"/>
          <p:cNvSpPr/>
          <p:nvPr/>
        </p:nvSpPr>
        <p:spPr>
          <a:xfrm>
            <a:off x="2834640" y="2907792"/>
            <a:ext cx="438912" cy="43891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lt1"/>
                </a:solidFill>
                <a:latin typeface="Franklin Gothic Dem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45643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chemeClr val="dk1"/>
                </a:solidFill>
                <a:latin typeface="Franklin Gothic Demi"/>
              </a:rPr>
              <a:t>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905601"/>
            <a:ext cx="226771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Use timeouts, caching, </a:t>
            </a:r>
            <a:endParaRPr lang="en-US" sz="1300" b="0" dirty="0">
              <a:solidFill>
                <a:schemeClr val="tx2"/>
              </a:solidFill>
              <a:latin typeface="Franklin Gothic Boo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and controlled retries.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2907792"/>
            <a:ext cx="438912" cy="4389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lt1"/>
                </a:solidFill>
                <a:latin typeface="Franklin Gothic Dem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5643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chemeClr val="dk1"/>
                </a:solidFill>
                <a:latin typeface="Franklin Gothic Demi"/>
              </a:rPr>
              <a:t>ISOLATE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905601"/>
            <a:ext cx="226771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Trip a circuit breaker </a:t>
            </a:r>
            <a:endParaRPr lang="en-US" sz="1300" b="0" dirty="0">
              <a:solidFill>
                <a:schemeClr val="tx2"/>
              </a:solidFill>
              <a:latin typeface="Franklin Gothic Boo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before failures cascade.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2907792"/>
            <a:ext cx="438912" cy="4389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dk1"/>
                </a:solidFill>
                <a:latin typeface="Franklin Gothic Dem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45643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chemeClr val="dk1"/>
                </a:solidFill>
                <a:latin typeface="Franklin Gothic Demi"/>
              </a:rPr>
              <a:t>RECOVER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905601"/>
            <a:ext cx="2267712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Use fallbacks or async </a:t>
            </a:r>
            <a:endParaRPr lang="en-US" sz="1300" b="0" dirty="0">
              <a:solidFill>
                <a:schemeClr val="tx2"/>
              </a:solidFill>
              <a:latin typeface="Franklin Gothic Book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dirty="0">
                <a:solidFill>
                  <a:schemeClr val="tx2"/>
                </a:solidFill>
                <a:latin typeface="Franklin Gothic Book"/>
              </a:rPr>
              <a:t>work to degrade gracefully.</a:t>
            </a:r>
          </a:p>
        </p:txBody>
      </p:sp>
      <p:sp>
        <p:nvSpPr>
          <p:cNvPr id="17" name="Hexagon 16"/>
          <p:cNvSpPr/>
          <p:nvPr/>
        </p:nvSpPr>
        <p:spPr>
          <a:xfrm>
            <a:off x="10104120" y="2761488"/>
            <a:ext cx="1170432" cy="1170432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40" y="3125514"/>
            <a:ext cx="10789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chemeClr val="lt1"/>
                </a:solidFill>
                <a:latin typeface="Franklin Gothic Demi"/>
              </a:rPr>
              <a:t>COTS /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472986"/>
            <a:ext cx="10789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chemeClr val="lt1"/>
                </a:solidFill>
                <a:latin typeface="Franklin Gothic Demi"/>
              </a:rPr>
              <a:t>BLACK BOX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4800600"/>
            <a:ext cx="10378440" cy="0"/>
          </a:xfrm>
          <a:prstGeom prst="line">
            <a:avLst/>
          </a:prstGeom>
          <a:ln w="12700">
            <a:solidFill>
              <a:schemeClr val="dk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50474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accent3"/>
                </a:solidFill>
                <a:latin typeface="Franklin Gothic Demi"/>
              </a:rPr>
              <a:t>PERFORMANCE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76672"/>
            <a:ext cx="64465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chemeClr val="dk1"/>
                </a:solidFill>
                <a:latin typeface="Franklin Gothic Demi"/>
              </a:rPr>
              <a:t>A single slow third-party call can dominate the entire request.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5056632"/>
            <a:ext cx="35478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accent3"/>
                </a:solidFill>
                <a:latin typeface="Franklin Gothic Demi"/>
              </a:rPr>
              <a:t>DEFENSIVE TOOLKIT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5376672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2"/>
                </a:solidFill>
                <a:latin typeface="Franklin Gothic Demi"/>
              </a:rPr>
              <a:t>Timeouts  •  Retries  •  Circuit breakers
Caching  •  Async processing  •  Fallbacks</a:t>
            </a:r>
          </a:p>
        </p:txBody>
      </p:sp>
    </p:spTree>
    <p:extLst>
      <p:ext uri="{BB962C8B-B14F-4D97-AF65-F5344CB8AC3E}">
        <p14:creationId xmlns:p14="http://schemas.microsoft.com/office/powerpoint/2010/main" val="39981544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131</TotalTime>
  <Words>244</Words>
  <Application>Microsoft Office PowerPoint</Application>
  <PresentationFormat>Widescreen</PresentationFormat>
  <Paragraphs>75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Franklin Gothic Book</vt:lpstr>
      <vt:lpstr>Franklin Gothic Demi</vt:lpstr>
      <vt:lpstr>Custom</vt:lpstr>
      <vt:lpstr>Bottleneck Analysis</vt:lpstr>
      <vt:lpstr>Classification</vt:lpstr>
      <vt:lpstr>Response Times</vt:lpstr>
      <vt:lpstr>Assess Architecture</vt:lpstr>
      <vt:lpstr>External Dependencies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5</cp:revision>
  <dcterms:created xsi:type="dcterms:W3CDTF">2026-10-16T16:13:57Z</dcterms:created>
  <dcterms:modified xsi:type="dcterms:W3CDTF">2026-10-16T18:25:30Z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