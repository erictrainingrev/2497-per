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64" r:id="rId4"/>
  </p:sldMasterIdLst>
  <p:notesMasterIdLst>
    <p:notesMasterId r:id="rId10"/>
  </p:notesMasterIdLst>
  <p:handoutMasterIdLst>
    <p:handoutMasterId r:id="rId11"/>
  </p:handout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2" autoAdjust="0"/>
  </p:normalViewPr>
  <p:slideViewPr>
    <p:cSldViewPr snapToGrid="0">
      <p:cViewPr varScale="1">
        <p:scale>
          <a:sx n="57" d="100"/>
          <a:sy n="57" d="100"/>
        </p:scale>
        <p:origin x="4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32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09A7646-64A1-4BED-BA0B-77C27DE51A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BEFC0-5AA8-4302-B8B2-9ACD77A2E1D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82F98B-3DC8-431B-BBBF-B7C2B94E730B}" type="datetimeFigureOut">
              <a:rPr lang="en-US" smtClean="0"/>
              <a:t>10/15/2026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6656EA-4150-44D1-821F-53CA0DBA1A3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184F06-C917-4D16-B46F-633E54CA499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1F4691-38BC-4357-BA2E-AC7731A10A4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06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6176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025FD9-6782-4777-BD37-B8EEBEF1E49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8351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660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1794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662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777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660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046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920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6981" y="1852122"/>
            <a:ext cx="2458230" cy="200867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7B0DF2F-DAFD-4616-9E25-0C28D75BF30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491805" y="1852122"/>
            <a:ext cx="2458230" cy="200867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36DA0F9-D851-437C-A45B-EC125A3D3DB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076629" y="1852122"/>
            <a:ext cx="2458230" cy="200867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FF0BA98-3AB4-4D88-B1C2-6279BCACFAD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87792" y="3971924"/>
            <a:ext cx="2477419" cy="803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D9DEF72B-B924-4A0D-8C83-3B370632C0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72616" y="3971925"/>
            <a:ext cx="2477419" cy="803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E9D30C54-E9E8-4300-8DA4-352DB3A71A4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070240" y="3971924"/>
            <a:ext cx="2458230" cy="803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5080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410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974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19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10/15/2026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939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869841E-71E7-4F51-8E6F-5E8A5E3756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Plans">
            <a:extLst>
              <a:ext uri="{FF2B5EF4-FFF2-40B4-BE49-F238E27FC236}">
                <a16:creationId xmlns:a16="http://schemas.microsoft.com/office/drawing/2014/main" id="{A3A2E0DA-DA21-447D-AD1F-3DB915DD051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-1"/>
            <a:ext cx="12188932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94B067E-A161-4B29-A8FA-FEEB194495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61999"/>
            <a:ext cx="4642228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6CA50C-1A88-4B3F-A34F-FE199F420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7" y="1298448"/>
            <a:ext cx="3685070" cy="3255264"/>
          </a:xfrm>
        </p:spPr>
        <p:txBody>
          <a:bodyPr>
            <a:normAutofit/>
          </a:bodyPr>
          <a:lstStyle/>
          <a:p>
            <a:r>
              <a:rPr lang="en-US" sz="4800" dirty="0"/>
              <a:t>JVM Basics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CC2D51-705E-403A-AC0E-9157DC5513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4670246"/>
            <a:ext cx="3685070" cy="914400"/>
          </a:xfrm>
        </p:spPr>
        <p:txBody>
          <a:bodyPr>
            <a:normAutofit/>
          </a:bodyPr>
          <a:lstStyle/>
          <a:p>
            <a:r>
              <a:rPr lang="en-US" dirty="0"/>
              <a:t>How Java is run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0C741F-0826-4AB6-A92E-AB4EB50216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828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E3934-670A-FA3E-0969-22C43D45C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&amp;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77639" y="676656"/>
            <a:ext cx="7086600" cy="42062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75E47"/>
                </a:solidFill>
                <a:latin typeface="Corbel"/>
              </a:rPr>
              <a:t>STACK TRACKS ACTIVE CALLS; HEAP HOLDS OBJECTS UNTIL THEY ARE UNREACHABLE.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7639" y="1097280"/>
            <a:ext cx="7086600" cy="22860"/>
          </a:xfrm>
          <a:prstGeom prst="rect">
            <a:avLst/>
          </a:prstGeom>
          <a:solidFill>
            <a:srgbClr val="A9A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977639" y="1225296"/>
            <a:ext cx="2788920" cy="38404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E6F70"/>
                </a:solidFill>
                <a:latin typeface="Corbel"/>
              </a:rPr>
              <a:t>STACK  /  per thread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45552" y="1225296"/>
            <a:ext cx="3218688" cy="38404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675E47"/>
                </a:solidFill>
                <a:latin typeface="Corbel"/>
              </a:rPr>
              <a:t>HEAP  /  shared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977639" y="1664208"/>
            <a:ext cx="2788920" cy="2587752"/>
          </a:xfrm>
          <a:prstGeom prst="rect">
            <a:avLst/>
          </a:prstGeom>
          <a:solidFill>
            <a:srgbClr val="FFFFFF"/>
          </a:solidFill>
          <a:ln w="15240">
            <a:solidFill>
              <a:srgbClr val="4E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05656" y="1792224"/>
            <a:ext cx="2532888" cy="1033271"/>
          </a:xfrm>
          <a:prstGeom prst="rect">
            <a:avLst/>
          </a:prstGeom>
          <a:solidFill>
            <a:srgbClr val="E7F0F0"/>
          </a:solidFill>
          <a:ln w="12700">
            <a:solidFill>
              <a:srgbClr val="9CB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24528" y="1865376"/>
            <a:ext cx="2267712" cy="2743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E6F70"/>
                </a:solidFill>
                <a:latin typeface="Consolas"/>
              </a:rPr>
              <a:t>processOrder()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24528" y="2185416"/>
            <a:ext cx="2267712" cy="4846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E6F70"/>
                </a:solidFill>
                <a:latin typeface="Consolas"/>
              </a:rPr>
              <a:t>int count = 3
User userRef = 0x7A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05656" y="2926080"/>
            <a:ext cx="2532888" cy="832104"/>
          </a:xfrm>
          <a:prstGeom prst="rect">
            <a:avLst/>
          </a:prstGeom>
          <a:solidFill>
            <a:srgbClr val="F3F3F1"/>
          </a:solidFill>
          <a:ln w="1143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24528" y="2999232"/>
            <a:ext cx="2267712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75E47"/>
                </a:solidFill>
                <a:latin typeface="Consolas"/>
              </a:rPr>
              <a:t>main()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4528" y="3273552"/>
            <a:ext cx="2267712" cy="2743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8A85"/>
                </a:solidFill>
                <a:latin typeface="Consolas"/>
              </a:rPr>
              <a:t>String[] args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05656" y="3858768"/>
            <a:ext cx="2532888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A85"/>
                </a:solidFill>
                <a:latin typeface="Corbel"/>
              </a:rPr>
              <a:t>LIFO: newest frame on top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45552" y="1664208"/>
            <a:ext cx="3218688" cy="2587752"/>
          </a:xfrm>
          <a:prstGeom prst="rect">
            <a:avLst/>
          </a:prstGeom>
          <a:solidFill>
            <a:srgbClr val="FFFFFF"/>
          </a:solidFill>
          <a:ln w="15240">
            <a:solidFill>
              <a:srgbClr val="675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10144" y="1847088"/>
            <a:ext cx="1938528" cy="1152144"/>
          </a:xfrm>
          <a:prstGeom prst="rect">
            <a:avLst/>
          </a:prstGeom>
          <a:solidFill>
            <a:srgbClr val="EFEEE5"/>
          </a:solidFill>
          <a:ln w="13970">
            <a:solidFill>
              <a:srgbClr val="A9A5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38160" y="1938528"/>
            <a:ext cx="1682496" cy="28346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75E47"/>
                </a:solidFill>
                <a:latin typeface="Consolas"/>
              </a:rPr>
              <a:t>User @ 0x7A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276856"/>
            <a:ext cx="1682496" cy="5029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75E47"/>
                </a:solidFill>
                <a:latin typeface="Consolas"/>
              </a:rPr>
              <a:t>name: "Maya"
id: 1042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49256" y="1847088"/>
            <a:ext cx="841248" cy="1152144"/>
          </a:xfrm>
          <a:prstGeom prst="rect">
            <a:avLst/>
          </a:prstGeom>
          <a:solidFill>
            <a:srgbClr val="F3F3F1"/>
          </a:solidFill>
          <a:ln w="1143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122408" y="1929384"/>
            <a:ext cx="694944" cy="32918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75E47"/>
                </a:solidFill>
                <a:latin typeface="Consolas"/>
              </a:rPr>
              <a:t>Order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22408" y="2331720"/>
            <a:ext cx="694944" cy="4114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8A85"/>
                </a:solidFill>
                <a:latin typeface="Consolas"/>
              </a:rPr>
              <a:t>…fields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10144" y="3200400"/>
            <a:ext cx="1307592" cy="658368"/>
          </a:xfrm>
          <a:prstGeom prst="rect">
            <a:avLst/>
          </a:prstGeom>
          <a:solidFill>
            <a:srgbClr val="FAFAF8"/>
          </a:solidFill>
          <a:ln w="1016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01583" y="3264408"/>
            <a:ext cx="1124712" cy="24688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A8A85"/>
                </a:solidFill>
                <a:latin typeface="Consolas"/>
              </a:rPr>
              <a:t>unreachable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1583" y="3538728"/>
            <a:ext cx="1124712" cy="18288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8A85"/>
                </a:solidFill>
                <a:latin typeface="Corbel"/>
              </a:rPr>
              <a:t>eligible for GC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3227832"/>
            <a:ext cx="1307592" cy="60350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75E47"/>
                </a:solidFill>
                <a:latin typeface="Corbel"/>
              </a:rPr>
              <a:t>Objects + arrays
live here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3992" y="2103120"/>
            <a:ext cx="996696" cy="42062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E6F70"/>
                </a:solidFill>
                <a:latin typeface="Consolas"/>
              </a:rPr>
              <a:t>ref  ───▶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7639" y="4462272"/>
            <a:ext cx="7086600" cy="28346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75E47"/>
                </a:solidFill>
                <a:latin typeface="Corbel"/>
              </a:rPr>
              <a:t>HOW MEMORY IS MANAGED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4773168"/>
            <a:ext cx="1984248" cy="7132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E6F70"/>
                </a:solidFill>
                <a:latin typeface="Corbel"/>
              </a:rPr>
              <a:t>1  CALL
A method call pushes a frame.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9632" y="4773168"/>
            <a:ext cx="2112264" cy="7132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675E47"/>
                </a:solidFill>
                <a:latin typeface="Corbel"/>
              </a:rPr>
              <a:t>2  ALLOCATE
</a:t>
            </a:r>
            <a:r>
              <a:rPr lang="en-US" sz="1500" b="1" dirty="0">
                <a:solidFill>
                  <a:srgbClr val="675E47"/>
                </a:solidFill>
                <a:latin typeface="Corbel"/>
              </a:rPr>
              <a:t>"</a:t>
            </a:r>
            <a:r>
              <a:rPr sz="1500" b="1" dirty="0">
                <a:solidFill>
                  <a:srgbClr val="675E47"/>
                </a:solidFill>
                <a:latin typeface="Corbel"/>
              </a:rPr>
              <a:t>new</a:t>
            </a:r>
            <a:r>
              <a:rPr lang="en-US" sz="1500" b="1" dirty="0">
                <a:solidFill>
                  <a:srgbClr val="675E47"/>
                </a:solidFill>
                <a:latin typeface="Corbel"/>
              </a:rPr>
              <a:t>"</a:t>
            </a:r>
            <a:r>
              <a:rPr sz="1500" b="1" dirty="0">
                <a:solidFill>
                  <a:srgbClr val="675E47"/>
                </a:solidFill>
                <a:latin typeface="Corbel"/>
              </a:rPr>
              <a:t> creates an object on the heap.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4773168"/>
            <a:ext cx="2514600" cy="7132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75E47"/>
                </a:solidFill>
                <a:latin typeface="Corbel"/>
              </a:rPr>
              <a:t>3  RELEASE
Return pops the frame; GC later reclaims unreachable objects.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71616" y="4754880"/>
            <a:ext cx="13716" cy="74980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430768" y="4754880"/>
            <a:ext cx="13716" cy="74980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60069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420B8-E828-6362-02AB-3E9C7BE05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Garbage Collection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77639" y="662291"/>
            <a:ext cx="7086600" cy="44935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75E47"/>
                </a:solidFill>
                <a:latin typeface="Corbel"/>
              </a:rPr>
              <a:t>GC RECLAIMS </a:t>
            </a:r>
            <a:r>
              <a:rPr lang="en-US" sz="1400" b="1">
                <a:solidFill>
                  <a:srgbClr val="675E47"/>
                </a:solidFill>
                <a:latin typeface="Corbel"/>
              </a:rPr>
              <a:t>UNREACHABLE OBJECTS; COLLECTOR CHOICE </a:t>
            </a:r>
            <a:r>
              <a:rPr sz="1400" b="1">
                <a:solidFill>
                  <a:srgbClr val="675E47"/>
                </a:solidFill>
                <a:latin typeface="Corbel"/>
              </a:rPr>
              <a:t>TRADES THROUGHPUT FOR </a:t>
            </a:r>
            <a:r>
              <a:rPr lang="en-US" sz="1400" b="1">
                <a:solidFill>
                  <a:srgbClr val="675E47"/>
                </a:solidFill>
                <a:latin typeface="Corbel"/>
              </a:rPr>
              <a:t>LATENCY</a:t>
            </a:r>
            <a:r>
              <a:rPr sz="1400" b="1">
                <a:solidFill>
                  <a:srgbClr val="675E47"/>
                </a:solidFill>
                <a:latin typeface="Corbel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7639" y="1097280"/>
            <a:ext cx="7086600" cy="22860"/>
          </a:xfrm>
          <a:prstGeom prst="rect">
            <a:avLst/>
          </a:prstGeom>
          <a:solidFill>
            <a:srgbClr val="A9A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977639" y="1216152"/>
            <a:ext cx="7086600" cy="2743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75E47"/>
                </a:solidFill>
                <a:latin typeface="Corbel"/>
              </a:rPr>
              <a:t>WHAT THE COLLECTOR DOES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977639" y="1572768"/>
            <a:ext cx="384048" cy="384048"/>
          </a:xfrm>
          <a:prstGeom prst="rect">
            <a:avLst/>
          </a:prstGeom>
          <a:solidFill>
            <a:srgbClr val="9CB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53127" y="1554480"/>
            <a:ext cx="1609343" cy="31089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4E6F70"/>
                </a:solidFill>
                <a:latin typeface="Corbel"/>
              </a:rPr>
              <a:t>TRACE LIVE OBJECTS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1965960"/>
            <a:ext cx="2084831" cy="713232"/>
          </a:xfrm>
          <a:prstGeom prst="rect">
            <a:avLst/>
          </a:prstGeom>
          <a:noFill/>
        </p:spPr>
        <p:txBody>
          <a:bodyPr wrap="square" lIns="18288" tIns="27432" rIns="27432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75E47"/>
                </a:solidFill>
                <a:latin typeface="Corbel"/>
              </a:rPr>
              <a:t>Start at GC roots—thread stacks and statics—and mark reachable objects.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572768"/>
            <a:ext cx="384048" cy="384048"/>
          </a:xfrm>
          <a:prstGeom prst="rect">
            <a:avLst/>
          </a:prstGeom>
          <a:solidFill>
            <a:srgbClr val="A9A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0568" y="1554480"/>
            <a:ext cx="1536192" cy="31089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75E47"/>
                </a:solidFill>
                <a:latin typeface="Corbel"/>
              </a:rPr>
              <a:t>RECLAIM GARBAGE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965960"/>
            <a:ext cx="2011680" cy="713232"/>
          </a:xfrm>
          <a:prstGeom prst="rect">
            <a:avLst/>
          </a:prstGeom>
          <a:noFill/>
        </p:spPr>
        <p:txBody>
          <a:bodyPr wrap="square" lIns="18288" tIns="27432" rIns="27432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75E47"/>
                </a:solidFill>
                <a:latin typeface="Corbel"/>
              </a:rPr>
              <a:t>Memory from unreachable objects becomes available for new allocations.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1572768"/>
            <a:ext cx="384048" cy="384048"/>
          </a:xfrm>
          <a:prstGeom prst="rect">
            <a:avLst/>
          </a:prstGeom>
          <a:solidFill>
            <a:srgbClr val="A9A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1554480"/>
            <a:ext cx="1901952" cy="31089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75E47"/>
                </a:solidFill>
                <a:latin typeface="Corbel"/>
              </a:rPr>
              <a:t>COMPACT / RELOCATE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965960"/>
            <a:ext cx="2377440" cy="713232"/>
          </a:xfrm>
          <a:prstGeom prst="rect">
            <a:avLst/>
          </a:prstGeom>
          <a:noFill/>
        </p:spPr>
        <p:txBody>
          <a:bodyPr wrap="square" lIns="18288" tIns="27432" rIns="27432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75E47"/>
                </a:solidFill>
                <a:latin typeface="Corbel"/>
              </a:rPr>
              <a:t>Many collectors move survivors to reduce fragmentation and free regions.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8776" y="1572768"/>
            <a:ext cx="10972" cy="1042415"/>
          </a:xfrm>
          <a:prstGeom prst="rect">
            <a:avLst/>
          </a:prstGeom>
          <a:solidFill>
            <a:srgbClr val="D7D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540496" y="1572768"/>
            <a:ext cx="10972" cy="1042415"/>
          </a:xfrm>
          <a:prstGeom prst="rect">
            <a:avLst/>
          </a:prstGeom>
          <a:solidFill>
            <a:srgbClr val="D7D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77639" y="2816352"/>
            <a:ext cx="7086600" cy="29260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75E47"/>
                </a:solidFill>
                <a:latin typeface="Corbel"/>
              </a:rPr>
              <a:t>COLLECTOR TRADE-OFFS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977639" y="3154680"/>
          <a:ext cx="708659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orbel"/>
                        </a:rPr>
                        <a:t>COLLECTOR</a:t>
                      </a:r>
                    </a:p>
                  </a:txBody>
                  <a:tcPr>
                    <a:solidFill>
                      <a:srgbClr val="675E4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orbel"/>
                        </a:rPr>
                        <a:t>APPROACH</a:t>
                      </a:r>
                    </a:p>
                  </a:txBody>
                  <a:tcPr>
                    <a:solidFill>
                      <a:srgbClr val="675E4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orbel"/>
                        </a:rPr>
                        <a:t>STRENGTH</a:t>
                      </a:r>
                    </a:p>
                  </a:txBody>
                  <a:tcPr>
                    <a:solidFill>
                      <a:srgbClr val="675E4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orbel"/>
                        </a:rPr>
                        <a:t>TRADE-OFF</a:t>
                      </a:r>
                    </a:p>
                  </a:txBody>
                  <a:tcPr>
                    <a:solidFill>
                      <a:srgbClr val="675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1">
                          <a:solidFill>
                            <a:srgbClr val="4E6F70"/>
                          </a:solidFill>
                          <a:latin typeface="Consolas"/>
                        </a:rPr>
                        <a:t>Serial</a:t>
                      </a:r>
                    </a:p>
                  </a:txBody>
                  <a:tcPr>
                    <a:solidFill>
                      <a:srgbClr val="E7E7E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675E47"/>
                          </a:solidFill>
                          <a:latin typeface="Corbel"/>
                        </a:rPr>
                        <a:t>1 GC thread; STW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675E47"/>
                          </a:solidFill>
                          <a:latin typeface="Corbel"/>
                        </a:rPr>
                        <a:t>Low overhead; small heaps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675E47"/>
                          </a:solidFill>
                          <a:latin typeface="Corbel"/>
                        </a:rPr>
                        <a:t>Pause time grows with heap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1">
                          <a:solidFill>
                            <a:srgbClr val="4E6F70"/>
                          </a:solidFill>
                          <a:latin typeface="Consolas"/>
                        </a:rPr>
                        <a:t>Parallel</a:t>
                      </a:r>
                    </a:p>
                  </a:txBody>
                  <a:tcPr>
                    <a:solidFill>
                      <a:srgbClr val="DFE9E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675E47"/>
                          </a:solidFill>
                          <a:latin typeface="Corbel"/>
                        </a:rPr>
                        <a:t>Many GC threads; STW</a:t>
                      </a:r>
                    </a:p>
                  </a:txBody>
                  <a:tcPr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675E47"/>
                          </a:solidFill>
                          <a:latin typeface="Corbel"/>
                        </a:rPr>
                        <a:t>Maximum batch throughput</a:t>
                      </a:r>
                    </a:p>
                  </a:txBody>
                  <a:tcPr>
                    <a:solidFill>
                      <a:srgbClr val="F3F3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675E47"/>
                          </a:solidFill>
                          <a:latin typeface="Corbel"/>
                        </a:rPr>
                        <a:t>Application pauses during GC</a:t>
                      </a:r>
                    </a:p>
                  </a:txBody>
                  <a:tcPr>
                    <a:solidFill>
                      <a:srgbClr val="F3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1">
                          <a:solidFill>
                            <a:srgbClr val="4E6F70"/>
                          </a:solidFill>
                          <a:latin typeface="Consolas"/>
                        </a:rPr>
                        <a:t>G1</a:t>
                      </a:r>
                    </a:p>
                  </a:txBody>
                  <a:tcPr>
                    <a:solidFill>
                      <a:srgbClr val="E1DFC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675E47"/>
                          </a:solidFill>
                          <a:latin typeface="Corbel"/>
                        </a:rPr>
                        <a:t>Regions; mostly concurrent</a:t>
                      </a:r>
                    </a:p>
                  </a:txBody>
                  <a:tcPr>
                    <a:solidFill>
                      <a:srgbClr val="EFEE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675E47"/>
                          </a:solidFill>
                          <a:latin typeface="Corbel"/>
                        </a:rPr>
                        <a:t>Latency / throughput balance</a:t>
                      </a:r>
                    </a:p>
                  </a:txBody>
                  <a:tcPr>
                    <a:solidFill>
                      <a:srgbClr val="EFEE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675E47"/>
                          </a:solidFill>
                          <a:latin typeface="Corbel"/>
                        </a:rPr>
                        <a:t>Concurrent CPU + bookkeeping</a:t>
                      </a:r>
                    </a:p>
                  </a:txBody>
                  <a:tcPr>
                    <a:solidFill>
                      <a:srgbClr val="EFEE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1">
                          <a:solidFill>
                            <a:srgbClr val="4E6F70"/>
                          </a:solidFill>
                          <a:latin typeface="Consolas"/>
                        </a:rPr>
                        <a:t>ZGC</a:t>
                      </a:r>
                    </a:p>
                  </a:txBody>
                  <a:tcPr>
                    <a:solidFill>
                      <a:srgbClr val="D5E6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675E47"/>
                          </a:solidFill>
                          <a:latin typeface="Corbel"/>
                        </a:rPr>
                        <a:t>Highly concurrent relocation</a:t>
                      </a:r>
                    </a:p>
                  </a:txBody>
                  <a:tcPr>
                    <a:solidFill>
                      <a:srgbClr val="E7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675E47"/>
                          </a:solidFill>
                          <a:latin typeface="Corbel"/>
                        </a:rPr>
                        <a:t>Very low latency; large heaps</a:t>
                      </a:r>
                    </a:p>
                  </a:txBody>
                  <a:tcPr>
                    <a:solidFill>
                      <a:srgbClr val="E7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20" b="0">
                          <a:solidFill>
                            <a:srgbClr val="675E47"/>
                          </a:solidFill>
                          <a:latin typeface="Corbel"/>
                        </a:rPr>
                        <a:t>Needs CPU and allocation headroom</a:t>
                      </a:r>
                    </a:p>
                  </a:txBody>
                  <a:tcPr>
                    <a:solidFill>
                      <a:srgbClr val="E7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3977639" y="3502152"/>
            <a:ext cx="7086600" cy="7315"/>
          </a:xfrm>
          <a:prstGeom prst="rect">
            <a:avLst/>
          </a:prstGeom>
          <a:solidFill>
            <a:srgbClr val="D7D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977639" y="3986784"/>
            <a:ext cx="7086600" cy="7315"/>
          </a:xfrm>
          <a:prstGeom prst="rect">
            <a:avLst/>
          </a:prstGeom>
          <a:solidFill>
            <a:srgbClr val="D7D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977639" y="4471416"/>
            <a:ext cx="7086600" cy="7315"/>
          </a:xfrm>
          <a:prstGeom prst="rect">
            <a:avLst/>
          </a:prstGeom>
          <a:solidFill>
            <a:srgbClr val="D7D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977639" y="4956048"/>
            <a:ext cx="7086600" cy="7315"/>
          </a:xfrm>
          <a:prstGeom prst="rect">
            <a:avLst/>
          </a:prstGeom>
          <a:solidFill>
            <a:srgbClr val="D7D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977639" y="5586984"/>
            <a:ext cx="7086600" cy="19202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68680"/>
                </a:solidFill>
                <a:latin typeface="Corbel"/>
              </a:rPr>
              <a:t>STW = “stop the world”: application threads pause while GC work runs.</a:t>
            </a:r>
          </a:p>
        </p:txBody>
      </p:sp>
    </p:spTree>
    <p:extLst>
      <p:ext uri="{BB962C8B-B14F-4D97-AF65-F5344CB8AC3E}">
        <p14:creationId xmlns:p14="http://schemas.microsoft.com/office/powerpoint/2010/main" val="1578967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971C2-8036-DA90-CD14-F1E32F3C1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JVM Memory Regions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77639" y="770013"/>
            <a:ext cx="7086600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675E47"/>
                </a:solidFill>
                <a:latin typeface="Corbel"/>
              </a:rPr>
              <a:t>THE HEAP IS GENERATIONAL: MOST OBJECTS DIE YOUNG; SURVIVORS MOVE TO OLD</a:t>
            </a:r>
            <a:r>
              <a:rPr sz="1400" b="1">
                <a:solidFill>
                  <a:srgbClr val="675E47"/>
                </a:solidFill>
                <a:latin typeface="Corbel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7639" y="1097280"/>
            <a:ext cx="7086600" cy="22860"/>
          </a:xfrm>
          <a:prstGeom prst="rect">
            <a:avLst/>
          </a:prstGeom>
          <a:solidFill>
            <a:srgbClr val="A9A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977639" y="1251745"/>
            <a:ext cx="7086600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>
                <a:solidFill>
                  <a:srgbClr val="675E47"/>
                </a:solidFill>
                <a:latin typeface="Corbel"/>
              </a:rPr>
              <a:t>HOW OBJECTS MOVE THROUGH MEMORY</a:t>
            </a:r>
            <a:endParaRPr sz="1200" b="1">
              <a:solidFill>
                <a:srgbClr val="675E47"/>
              </a:solidFill>
              <a:latin typeface="Corbe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977639" y="1554480"/>
            <a:ext cx="5212080" cy="2103120"/>
          </a:xfrm>
          <a:prstGeom prst="rect">
            <a:avLst/>
          </a:prstGeom>
          <a:solidFill>
            <a:srgbClr val="FFFFFF"/>
          </a:solidFill>
          <a:ln w="13970">
            <a:solidFill>
              <a:srgbClr val="675E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0" y="1642038"/>
            <a:ext cx="987552" cy="172355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>
                <a:solidFill>
                  <a:srgbClr val="82827C"/>
                </a:solidFill>
                <a:latin typeface="Consolas"/>
              </a:rPr>
              <a:t>JVM HEAP</a:t>
            </a:r>
          </a:p>
        </p:txBody>
      </p:sp>
      <p:sp>
        <p:nvSpPr>
          <p:cNvPr id="8" name="Rectangle 7"/>
          <p:cNvSpPr>
            <a:spLocks/>
          </p:cNvSpPr>
          <p:nvPr/>
        </p:nvSpPr>
        <p:spPr>
          <a:xfrm>
            <a:off x="4160520" y="1901952"/>
            <a:ext cx="2971800" cy="1481328"/>
          </a:xfrm>
          <a:prstGeom prst="rect">
            <a:avLst/>
          </a:prstGeom>
          <a:solidFill>
            <a:srgbClr val="E7F0F0"/>
          </a:solidFill>
          <a:ln w="12700">
            <a:solidFill>
              <a:srgbClr val="9CB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4315968" y="1975104"/>
            <a:ext cx="2633472" cy="2743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1">
                <a:solidFill>
                  <a:srgbClr val="4E6F70"/>
                </a:solidFill>
                <a:latin typeface="Consolas"/>
              </a:rPr>
              <a:t>YOUNG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5968" y="2287415"/>
            <a:ext cx="2633472" cy="180049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b="0">
                <a:solidFill>
                  <a:srgbClr val="4E6F70"/>
                </a:solidFill>
                <a:latin typeface="Corbel"/>
              </a:rPr>
              <a:t>new objects  •  short lived</a:t>
            </a:r>
          </a:p>
        </p:txBody>
      </p:sp>
      <p:sp>
        <p:nvSpPr>
          <p:cNvPr id="11" name="Rectangle 10"/>
          <p:cNvSpPr>
            <a:spLocks/>
          </p:cNvSpPr>
          <p:nvPr/>
        </p:nvSpPr>
        <p:spPr>
          <a:xfrm>
            <a:off x="4315968" y="2578608"/>
            <a:ext cx="1280160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9CB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18288" rIns="64008" bIns="1828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>
                <a:solidFill>
                  <a:srgbClr val="4E6F70"/>
                </a:solidFill>
                <a:latin typeface="Consolas"/>
              </a:rPr>
              <a:t>EDEN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4361688" y="3163824"/>
            <a:ext cx="1188720" cy="16459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50" b="0">
                <a:solidFill>
                  <a:srgbClr val="82827C"/>
                </a:solidFill>
                <a:latin typeface="Corbel"/>
              </a:rPr>
              <a:t>allocation starts here</a:t>
            </a:r>
          </a:p>
        </p:txBody>
      </p:sp>
      <p:sp>
        <p:nvSpPr>
          <p:cNvPr id="13" name="Rectangle 12"/>
          <p:cNvSpPr>
            <a:spLocks/>
          </p:cNvSpPr>
          <p:nvPr/>
        </p:nvSpPr>
        <p:spPr>
          <a:xfrm>
            <a:off x="5742432" y="2578608"/>
            <a:ext cx="512064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9CB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18288" rIns="64008" bIns="1828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>
                <a:solidFill>
                  <a:srgbClr val="4E6F70"/>
                </a:solidFill>
                <a:latin typeface="Consolas"/>
              </a:rPr>
              <a:t>S0</a:t>
            </a:r>
          </a:p>
        </p:txBody>
      </p:sp>
      <p:sp>
        <p:nvSpPr>
          <p:cNvPr id="14" name="Rectangle 13"/>
          <p:cNvSpPr>
            <a:spLocks/>
          </p:cNvSpPr>
          <p:nvPr/>
        </p:nvSpPr>
        <p:spPr>
          <a:xfrm>
            <a:off x="6327648" y="2578608"/>
            <a:ext cx="512064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9CB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18288" rIns="64008" bIns="18288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>
                <a:solidFill>
                  <a:srgbClr val="4E6F70"/>
                </a:solidFill>
                <a:latin typeface="Consolas"/>
              </a:rPr>
              <a:t>S1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96712" y="3171484"/>
            <a:ext cx="1197864" cy="14927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50" b="0">
                <a:solidFill>
                  <a:srgbClr val="82827C"/>
                </a:solidFill>
                <a:latin typeface="Corbel"/>
              </a:rPr>
              <a:t>survivor spaces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114032" y="2534358"/>
            <a:ext cx="621792" cy="32624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1" dirty="0">
                <a:solidFill>
                  <a:srgbClr val="4E6F70"/>
                </a:solidFill>
                <a:latin typeface="Consolas"/>
              </a:rPr>
              <a:t>survives</a:t>
            </a:r>
            <a:r>
              <a:rPr lang="en-US" sz="1000" b="1" dirty="0">
                <a:solidFill>
                  <a:srgbClr val="4E6F70"/>
                </a:solidFill>
                <a:latin typeface="Consolas"/>
              </a:rPr>
              <a:t>
──▶</a:t>
            </a:r>
          </a:p>
        </p:txBody>
      </p:sp>
      <p:sp>
        <p:nvSpPr>
          <p:cNvPr id="17" name="Rectangle 16"/>
          <p:cNvSpPr>
            <a:spLocks/>
          </p:cNvSpPr>
          <p:nvPr/>
        </p:nvSpPr>
        <p:spPr>
          <a:xfrm>
            <a:off x="7662672" y="1901952"/>
            <a:ext cx="1325880" cy="1481328"/>
          </a:xfrm>
          <a:prstGeom prst="rect">
            <a:avLst/>
          </a:prstGeom>
          <a:solidFill>
            <a:srgbClr val="EFEEE5"/>
          </a:solidFill>
          <a:ln w="12700">
            <a:solidFill>
              <a:srgbClr val="A9A5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7790688" y="1975104"/>
            <a:ext cx="1069848" cy="4297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b="1">
                <a:solidFill>
                  <a:srgbClr val="675E47"/>
                </a:solidFill>
                <a:latin typeface="Consolas"/>
              </a:rPr>
              <a:t>OLD
GENERATION</a:t>
            </a:r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7781544" y="2532888"/>
            <a:ext cx="1097280" cy="40233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b="0">
                <a:solidFill>
                  <a:srgbClr val="675E47"/>
                </a:solidFill>
                <a:latin typeface="Corbel"/>
              </a:rPr>
              <a:t>promoted,
long-lived objects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7781544" y="3054096"/>
            <a:ext cx="1097280" cy="2011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50" b="0">
                <a:solidFill>
                  <a:srgbClr val="82827C"/>
                </a:solidFill>
                <a:latin typeface="Corbel"/>
              </a:rPr>
              <a:t>larger + steadier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36608" y="1554480"/>
            <a:ext cx="1627632" cy="2103120"/>
          </a:xfrm>
          <a:prstGeom prst="rect">
            <a:avLst/>
          </a:prstGeom>
          <a:solidFill>
            <a:srgbClr val="F4F4F1"/>
          </a:solidFill>
          <a:ln w="12700">
            <a:solidFill>
              <a:srgbClr val="D2D1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82912" y="1730133"/>
            <a:ext cx="1335024" cy="2339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675E47"/>
                </a:solidFill>
                <a:latin typeface="Consolas"/>
              </a:rPr>
              <a:t>METASPACE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82912" y="2108939"/>
            <a:ext cx="1335024" cy="37241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 b="0">
                <a:solidFill>
                  <a:srgbClr val="675E47"/>
                </a:solidFill>
                <a:latin typeface="Corbel"/>
              </a:rPr>
              <a:t>Class metadata
+ static info</a:t>
            </a:r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9582912" y="2665273"/>
            <a:ext cx="1335024" cy="357021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E6F70"/>
                </a:solidFill>
                <a:latin typeface="Corbel"/>
              </a:rPr>
              <a:t>Native memory: not the heap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82912" y="3213357"/>
            <a:ext cx="1335024" cy="15696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0">
                <a:solidFill>
                  <a:srgbClr val="82827C"/>
                </a:solidFill>
                <a:latin typeface="Corbel"/>
              </a:rPr>
              <a:t>grows as needed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39" y="3894361"/>
            <a:ext cx="7086600" cy="203133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>
                <a:solidFill>
                  <a:srgbClr val="675E47"/>
                </a:solidFill>
                <a:latin typeface="Corbel"/>
              </a:rPr>
              <a:t>REGION COMPARISON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3977639" y="4178808"/>
          <a:ext cx="7086600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47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7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4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orbel"/>
                        </a:rPr>
                        <a:t>REGION</a:t>
                      </a:r>
                    </a:p>
                  </a:txBody>
                  <a:tcPr>
                    <a:solidFill>
                      <a:srgbClr val="675E4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orbel"/>
                        </a:rPr>
                        <a:t>PURPOSE</a:t>
                      </a:r>
                    </a:p>
                  </a:txBody>
                  <a:tcPr>
                    <a:solidFill>
                      <a:srgbClr val="675E4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orbel"/>
                        </a:rPr>
                        <a:t>COLLECTION / GROWTH</a:t>
                      </a:r>
                    </a:p>
                  </a:txBody>
                  <a:tcPr>
                    <a:solidFill>
                      <a:srgbClr val="675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>
                          <a:solidFill>
                            <a:srgbClr val="4E6F70"/>
                          </a:solidFill>
                          <a:latin typeface="Consolas"/>
                        </a:rPr>
                        <a:t>Young</a:t>
                      </a:r>
                    </a:p>
                  </a:txBody>
                  <a:tcPr>
                    <a:solidFill>
                      <a:srgbClr val="E7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>
                          <a:solidFill>
                            <a:srgbClr val="4E6F70"/>
                          </a:solidFill>
                          <a:latin typeface="Corbel"/>
                        </a:rPr>
                        <a:t>New allocation; Eden + Survivor spaces</a:t>
                      </a:r>
                    </a:p>
                  </a:txBody>
                  <a:tcPr>
                    <a:solidFill>
                      <a:srgbClr val="E7F0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>
                          <a:solidFill>
                            <a:srgbClr val="4E6F70"/>
                          </a:solidFill>
                          <a:latin typeface="Corbel"/>
                        </a:rPr>
                        <a:t>Minor GC — fast, frequent</a:t>
                      </a:r>
                    </a:p>
                  </a:txBody>
                  <a:tcPr>
                    <a:solidFill>
                      <a:srgbClr val="E7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>
                          <a:solidFill>
                            <a:srgbClr val="675E47"/>
                          </a:solidFill>
                          <a:latin typeface="Consolas"/>
                        </a:rPr>
                        <a:t>Old</a:t>
                      </a:r>
                    </a:p>
                  </a:txBody>
                  <a:tcPr>
                    <a:solidFill>
                      <a:srgbClr val="EFEE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>
                          <a:solidFill>
                            <a:srgbClr val="675E47"/>
                          </a:solidFill>
                          <a:latin typeface="Corbel"/>
                        </a:rPr>
                        <a:t>Long-lived objects promoted from Young</a:t>
                      </a:r>
                    </a:p>
                  </a:txBody>
                  <a:tcPr>
                    <a:solidFill>
                      <a:srgbClr val="EFEEE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>
                          <a:solidFill>
                            <a:srgbClr val="675E47"/>
                          </a:solidFill>
                          <a:latin typeface="Corbel"/>
                        </a:rPr>
                        <a:t>Full GC — expensive, infrequent</a:t>
                      </a:r>
                    </a:p>
                  </a:txBody>
                  <a:tcPr>
                    <a:solidFill>
                      <a:srgbClr val="EFEE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1">
                          <a:solidFill>
                            <a:srgbClr val="675E47"/>
                          </a:solidFill>
                          <a:latin typeface="Consolas"/>
                        </a:rPr>
                        <a:t>Metaspace</a:t>
                      </a:r>
                    </a:p>
                  </a:txBody>
                  <a:tcPr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>
                          <a:solidFill>
                            <a:srgbClr val="675E47"/>
                          </a:solidFill>
                          <a:latin typeface="Corbel"/>
                        </a:rPr>
                        <a:t>Class metadata + static information</a:t>
                      </a:r>
                    </a:p>
                  </a:txBody>
                  <a:tcPr>
                    <a:solidFill>
                      <a:srgbClr val="F4F4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80" b="0">
                          <a:solidFill>
                            <a:srgbClr val="675E47"/>
                          </a:solidFill>
                          <a:latin typeface="Corbel"/>
                        </a:rPr>
                        <a:t>Native memory — grows as needed</a:t>
                      </a:r>
                    </a:p>
                  </a:txBody>
                  <a:tcPr>
                    <a:solidFill>
                      <a:srgbClr val="F4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" name="Rectangle 27"/>
          <p:cNvSpPr>
            <a:spLocks/>
          </p:cNvSpPr>
          <p:nvPr/>
        </p:nvSpPr>
        <p:spPr>
          <a:xfrm>
            <a:off x="3977639" y="4489704"/>
            <a:ext cx="7086600" cy="7315"/>
          </a:xfrm>
          <a:prstGeom prst="rect">
            <a:avLst/>
          </a:prstGeom>
          <a:solidFill>
            <a:srgbClr val="D2D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3977639" y="4892040"/>
            <a:ext cx="7086600" cy="7315"/>
          </a:xfrm>
          <a:prstGeom prst="rect">
            <a:avLst/>
          </a:prstGeom>
          <a:solidFill>
            <a:srgbClr val="D2D1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>
            <a:spLocks/>
          </p:cNvSpPr>
          <p:nvPr/>
        </p:nvSpPr>
        <p:spPr>
          <a:xfrm>
            <a:off x="3977639" y="5879592"/>
            <a:ext cx="7086600" cy="21031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b="1">
                <a:solidFill>
                  <a:srgbClr val="675E47"/>
                </a:solidFill>
                <a:latin typeface="Corbel"/>
              </a:rPr>
              <a:t>KEY IDEA  •  Generational GC optimizes for the fact that most objects die young.</a:t>
            </a:r>
          </a:p>
        </p:txBody>
      </p:sp>
    </p:spTree>
    <p:extLst>
      <p:ext uri="{BB962C8B-B14F-4D97-AF65-F5344CB8AC3E}">
        <p14:creationId xmlns:p14="http://schemas.microsoft.com/office/powerpoint/2010/main" val="672314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63E83-B506-A987-F54F-8013A322B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77639" y="676656"/>
            <a:ext cx="7086600" cy="42062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75E47"/>
                </a:solidFill>
                <a:latin typeface="Corbel"/>
              </a:rPr>
              <a:t>OBJECTS REMAIN ALIVE WHILE REACHABLE; GC CAN RECLAIM ONLY THE UNREACHABLE.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7639" y="1097280"/>
            <a:ext cx="7086600" cy="22860"/>
          </a:xfrm>
          <a:prstGeom prst="rect">
            <a:avLst/>
          </a:prstGeom>
          <a:solidFill>
            <a:srgbClr val="A9A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977639" y="1216152"/>
            <a:ext cx="7086600" cy="2743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75E47"/>
                </a:solidFill>
                <a:latin typeface="Corbel"/>
              </a:rPr>
              <a:t>OBJECT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977639" y="1645920"/>
            <a:ext cx="1572768" cy="1417320"/>
          </a:xfrm>
          <a:prstGeom prst="rect">
            <a:avLst/>
          </a:prstGeom>
          <a:solidFill>
            <a:srgbClr val="E7F0F0"/>
          </a:solidFill>
          <a:ln w="12700">
            <a:solidFill>
              <a:srgbClr val="9CB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05655" y="1746504"/>
            <a:ext cx="3383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4087368" y="1728216"/>
            <a:ext cx="384048" cy="292608"/>
          </a:xfrm>
          <a:prstGeom prst="rect">
            <a:avLst/>
          </a:prstGeom>
          <a:solidFill>
            <a:srgbClr val="9CB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05655" y="2084831"/>
            <a:ext cx="1316736" cy="2743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4E6F70"/>
                </a:solidFill>
                <a:latin typeface="Consolas"/>
              </a:rPr>
              <a:t>CREATE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05655" y="2432304"/>
            <a:ext cx="1316736" cy="4389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E6F70"/>
                </a:solidFill>
                <a:latin typeface="Corbel"/>
              </a:rPr>
              <a:t>new allocates
on the heap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06440" y="1645920"/>
            <a:ext cx="15727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1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34455" y="1746504"/>
            <a:ext cx="3383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16168" y="1728216"/>
            <a:ext cx="384048" cy="292608"/>
          </a:xfrm>
          <a:prstGeom prst="rect">
            <a:avLst/>
          </a:prstGeom>
          <a:solidFill>
            <a:srgbClr val="9CB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34455" y="2084831"/>
            <a:ext cx="1316736" cy="2743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75E47"/>
                </a:solidFill>
                <a:latin typeface="Consolas"/>
              </a:rPr>
              <a:t>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34455" y="2432304"/>
            <a:ext cx="1316736" cy="4389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75E47"/>
                </a:solidFill>
                <a:latin typeface="Corbel"/>
              </a:rPr>
              <a:t>references keep
the object reachable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1645920"/>
            <a:ext cx="1572768" cy="1417320"/>
          </a:xfrm>
          <a:prstGeom prst="rect">
            <a:avLst/>
          </a:prstGeom>
          <a:solidFill>
            <a:srgbClr val="EFEEE5"/>
          </a:solidFill>
          <a:ln w="12700">
            <a:solidFill>
              <a:srgbClr val="A9A5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63256" y="1746504"/>
            <a:ext cx="3383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44967" y="1728216"/>
            <a:ext cx="384048" cy="292608"/>
          </a:xfrm>
          <a:prstGeom prst="rect">
            <a:avLst/>
          </a:prstGeom>
          <a:solidFill>
            <a:srgbClr val="A9A5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63256" y="2084831"/>
            <a:ext cx="1316736" cy="2743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75E47"/>
                </a:solidFill>
                <a:latin typeface="Consolas"/>
              </a:rPr>
              <a:t>UNREACHABLE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63256" y="2432304"/>
            <a:ext cx="1316736" cy="4389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75E47"/>
                </a:solidFill>
                <a:latin typeface="Corbel"/>
              </a:rPr>
              <a:t>no live references
remain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64040" y="1645920"/>
            <a:ext cx="1572768" cy="1417320"/>
          </a:xfrm>
          <a:prstGeom prst="rect">
            <a:avLst/>
          </a:prstGeom>
          <a:solidFill>
            <a:srgbClr val="F4F4F1"/>
          </a:solidFill>
          <a:ln w="12700">
            <a:solidFill>
              <a:srgbClr val="D2D1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92056" y="1746504"/>
            <a:ext cx="3383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onsolas"/>
              </a:rPr>
              <a:t>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73767" y="1728216"/>
            <a:ext cx="384048" cy="292608"/>
          </a:xfrm>
          <a:prstGeom prst="rect">
            <a:avLst/>
          </a:prstGeom>
          <a:solidFill>
            <a:srgbClr val="828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Consola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92056" y="2084831"/>
            <a:ext cx="1316736" cy="2743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75E47"/>
                </a:solidFill>
                <a:latin typeface="Consolas"/>
              </a:rPr>
              <a:t>RECLAIM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92056" y="2432304"/>
            <a:ext cx="1316736" cy="4389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75E47"/>
                </a:solidFill>
                <a:latin typeface="Corbel"/>
              </a:rPr>
              <a:t>JVM chooses when
to collect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50408" y="2164696"/>
            <a:ext cx="256032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>
                <a:solidFill>
                  <a:srgbClr val="4E6F70"/>
                </a:solidFill>
                <a:latin typeface="Consolas"/>
              </a:rPr>
              <a:t>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79208" y="2164696"/>
            <a:ext cx="256032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>
                <a:solidFill>
                  <a:srgbClr val="4E6F70"/>
                </a:solidFill>
                <a:latin typeface="Consolas"/>
              </a:rPr>
              <a:t>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8008" y="2164696"/>
            <a:ext cx="256032" cy="187744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>
                <a:solidFill>
                  <a:srgbClr val="675E47"/>
                </a:solidFill>
                <a:latin typeface="Consolas"/>
              </a:rPr>
              <a:t>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77639" y="3319272"/>
            <a:ext cx="7086600" cy="26517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75E47"/>
                </a:solidFill>
                <a:latin typeface="Corbel"/>
              </a:rPr>
              <a:t>REACHABILITY IS THE GATE; COLLECTION TIME IS NOT GUARANTEED.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77639" y="3639312"/>
            <a:ext cx="3246120" cy="676656"/>
          </a:xfrm>
          <a:prstGeom prst="rect">
            <a:avLst/>
          </a:prstGeom>
          <a:solidFill>
            <a:srgbClr val="E7F0F0"/>
          </a:solidFill>
          <a:ln w="11430">
            <a:solidFill>
              <a:srgbClr val="9CB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42232" y="3730752"/>
            <a:ext cx="1115568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E6F70"/>
                </a:solidFill>
                <a:latin typeface="Consolas"/>
              </a:rPr>
              <a:t>REACHABLE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30368" y="3675887"/>
            <a:ext cx="1810512" cy="5029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E6F70"/>
                </a:solidFill>
                <a:latin typeface="Corbel"/>
              </a:rPr>
              <a:t>At least one live reference
→ object stays alive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34072" y="3639312"/>
            <a:ext cx="3630168" cy="676656"/>
          </a:xfrm>
          <a:prstGeom prst="rect">
            <a:avLst/>
          </a:prstGeom>
          <a:solidFill>
            <a:srgbClr val="EFEEE5"/>
          </a:solidFill>
          <a:ln w="11430">
            <a:solidFill>
              <a:srgbClr val="A9A5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598664" y="3730752"/>
            <a:ext cx="1234440" cy="21945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75E47"/>
                </a:solidFill>
                <a:latin typeface="Consolas"/>
              </a:rPr>
              <a:t>UNREACHABLE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05672" y="3675887"/>
            <a:ext cx="2075688" cy="5029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75E47"/>
                </a:solidFill>
                <a:latin typeface="Corbel"/>
              </a:rPr>
              <a:t>Eligible for GC now
→ reclaimed later by the JVM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77639" y="4572000"/>
            <a:ext cx="708660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75E47"/>
                </a:solidFill>
                <a:latin typeface="Corbel"/>
              </a:rPr>
              <a:t>TWO PRACTICAL CAUTIONS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77639" y="4901184"/>
            <a:ext cx="3383280" cy="941832"/>
          </a:xfrm>
          <a:prstGeom prst="rect">
            <a:avLst/>
          </a:prstGeom>
          <a:solidFill>
            <a:srgbClr val="F4ECDE"/>
          </a:solidFill>
          <a:ln w="12700">
            <a:solidFill>
              <a:srgbClr val="C89F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142232" y="4983480"/>
            <a:ext cx="1325880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75E47"/>
                </a:solidFill>
                <a:latin typeface="Consolas"/>
              </a:rPr>
              <a:t>MEMORY LEAK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42232" y="5257800"/>
            <a:ext cx="3017520" cy="3931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75E47"/>
                </a:solidFill>
                <a:latin typeface="Corbel"/>
              </a:rPr>
              <a:t>A cache or session map retains references → objects stay reachable → heap use keeps growing.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71231" y="4901184"/>
            <a:ext cx="3493008" cy="941832"/>
          </a:xfrm>
          <a:prstGeom prst="rect">
            <a:avLst/>
          </a:prstGeom>
          <a:solidFill>
            <a:srgbClr val="F4F4F1"/>
          </a:solidFill>
          <a:ln w="11430">
            <a:solidFill>
              <a:srgbClr val="D2D1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35824" y="4983480"/>
            <a:ext cx="1874519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75E47"/>
                </a:solidFill>
                <a:latin typeface="Consolas"/>
              </a:rPr>
              <a:t>finalize()  DEPRECATED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35824" y="5257800"/>
            <a:ext cx="3108960" cy="39319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75E47"/>
                </a:solidFill>
                <a:latin typeface="Corbel"/>
              </a:rPr>
              <a:t>Prefer try-with-resources or explicit close() for predictable cleanup.</a:t>
            </a:r>
          </a:p>
        </p:txBody>
      </p:sp>
    </p:spTree>
    <p:extLst>
      <p:ext uri="{BB962C8B-B14F-4D97-AF65-F5344CB8AC3E}">
        <p14:creationId xmlns:p14="http://schemas.microsoft.com/office/powerpoint/2010/main" val="4008436206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0668657-C50E-4365-A5FD-AC07593EBE5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1179D151-6AED-4C4E-9A23-4BEC5BA4367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A82F57F-EFCE-45E0-9F75-822371CB5F7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Architecture design</Template>
  <TotalTime>41</TotalTime>
  <Words>517</Words>
  <Application>Microsoft Office PowerPoint</Application>
  <PresentationFormat>Widescreen</PresentationFormat>
  <Paragraphs>123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</vt:lpstr>
      <vt:lpstr>Consolas</vt:lpstr>
      <vt:lpstr>Corbel</vt:lpstr>
      <vt:lpstr>Wingdings 2</vt:lpstr>
      <vt:lpstr>Frame</vt:lpstr>
      <vt:lpstr>JVM Basics</vt:lpstr>
      <vt:lpstr>Heap &amp; Stack</vt:lpstr>
      <vt:lpstr>Garbage Collection</vt:lpstr>
      <vt:lpstr>JVM Memory Regions</vt:lpstr>
      <vt:lpstr>Object Lifecycle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Suminski</dc:creator>
  <cp:lastModifiedBy>Eric Suminski</cp:lastModifiedBy>
  <cp:revision>2</cp:revision>
  <dcterms:created xsi:type="dcterms:W3CDTF">2026-10-14T20:20:28Z</dcterms:created>
  <dcterms:modified xsi:type="dcterms:W3CDTF">2026-10-15T15:29:23Z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