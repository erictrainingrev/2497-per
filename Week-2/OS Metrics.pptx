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4" d="100"/>
          <a:sy n="74" d="100"/>
        </p:scale>
        <p:origin x="376" y="5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10/16/2026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10/16/2026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10/16/2026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OS Metrics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Diagnosing System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DFD3B-0DDB-884C-0EEA-F0F785E4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16B91-2CFC-D3B6-DD1C-F58F41797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168" y="1764792"/>
            <a:ext cx="8156448" cy="841248"/>
          </a:xfrm>
        </p:spPr>
        <p:txBody>
          <a:bodyPr wrap="square" lIns="27432" tIns="9144" rIns="27432" bIns="9144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/>
              </a:rPr>
              <a:t>CPU </a:t>
            </a:r>
            <a:r>
              <a:rPr lang="en-US" sz="1650" dirty="0">
                <a:solidFill>
                  <a:schemeClr val="lt1"/>
                </a:solidFill>
                <a:latin typeface="Candara"/>
              </a:rPr>
              <a:t>Measures how much processor capacity is actively in use.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lang="en-US" sz="1450" dirty="0">
                <a:solidFill>
                  <a:schemeClr val="lt2"/>
                </a:solidFill>
                <a:latin typeface="Candara"/>
              </a:rPr>
              <a:t>Spot compute bottlenecks, runaway processes, and demand spikes.</a:t>
            </a:r>
          </a:p>
        </p:txBody>
      </p:sp>
      <p:pic>
        <p:nvPicPr>
          <p:cNvPr id="4" name="CPU metric icon" descr="CPU metric icon in neon circuit-line 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457" y="1752600"/>
            <a:ext cx="617565" cy="621792"/>
          </a:xfrm>
          <a:prstGeom prst="rect">
            <a:avLst/>
          </a:prstGeom>
        </p:spPr>
      </p:pic>
      <p:pic>
        <p:nvPicPr>
          <p:cNvPr id="5" name="Memory metric icon" descr="Memory metric icon in neon circuit-line 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2807208"/>
            <a:ext cx="621792" cy="621792"/>
          </a:xfrm>
          <a:prstGeom prst="rect">
            <a:avLst/>
          </a:prstGeom>
        </p:spPr>
      </p:pic>
      <p:pic>
        <p:nvPicPr>
          <p:cNvPr id="6" name="Disk metric icon" descr="Disk metric icon in neon circuit-line sty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212" y="3874008"/>
            <a:ext cx="488054" cy="621792"/>
          </a:xfrm>
          <a:prstGeom prst="rect">
            <a:avLst/>
          </a:prstGeom>
        </p:spPr>
      </p:pic>
      <p:pic>
        <p:nvPicPr>
          <p:cNvPr id="7" name="Network metric icon" descr="Network metric icon in neon circuit-line sty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141" y="5017008"/>
            <a:ext cx="620196" cy="621792"/>
          </a:xfrm>
          <a:prstGeom prst="rect">
            <a:avLst/>
          </a:prstGeom>
        </p:spPr>
      </p:pic>
      <p:sp>
        <p:nvSpPr>
          <p:cNvPr id="8" name="Memory metric description"/>
          <p:cNvSpPr txBox="1"/>
          <p:nvPr/>
        </p:nvSpPr>
        <p:spPr>
          <a:xfrm>
            <a:off x="2487168" y="2843784"/>
            <a:ext cx="8156448" cy="5186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chemeClr val="accent1"/>
                </a:solidFill>
                <a:latin typeface="Consolas"/>
              </a:rPr>
              <a:t>MEMORY</a:t>
            </a:r>
            <a:r>
              <a:rPr lang="en-US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50" dirty="0">
                <a:solidFill>
                  <a:schemeClr val="lt1"/>
                </a:solidFill>
                <a:latin typeface="Candara"/>
              </a:rPr>
              <a:t>Tracks RAM used by applications, cache, and the operating system.</a:t>
            </a:r>
            <a:br>
              <a:rPr dirty="0"/>
            </a:b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50" dirty="0">
                <a:solidFill>
                  <a:schemeClr val="lt2"/>
                </a:solidFill>
                <a:latin typeface="Candara"/>
              </a:rPr>
              <a:t>Detect memory pressure, swapping, leaks, and capacity needs.</a:t>
            </a:r>
          </a:p>
        </p:txBody>
      </p:sp>
      <p:sp>
        <p:nvSpPr>
          <p:cNvPr id="9" name="Disk metric description"/>
          <p:cNvSpPr txBox="1"/>
          <p:nvPr/>
        </p:nvSpPr>
        <p:spPr>
          <a:xfrm>
            <a:off x="2487168" y="3922776"/>
            <a:ext cx="8156448" cy="5186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chemeClr val="accent1"/>
                </a:solidFill>
                <a:latin typeface="Consolas"/>
              </a:rPr>
              <a:t>DISK</a:t>
            </a:r>
            <a:r>
              <a:rPr lang="en-US" sz="1800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50" dirty="0">
                <a:solidFill>
                  <a:schemeClr val="lt1"/>
                </a:solidFill>
                <a:latin typeface="Candara"/>
              </a:rPr>
              <a:t>Shows storage activity through throughput, latency, and queue depth.</a:t>
            </a:r>
            <a:br>
              <a:rPr dirty="0"/>
            </a:b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50" dirty="0">
                <a:solidFill>
                  <a:schemeClr val="lt2"/>
                </a:solidFill>
                <a:latin typeface="Candara"/>
              </a:rPr>
              <a:t>Find slow I/O, overloaded drives, and storage bottlenecks.</a:t>
            </a:r>
          </a:p>
        </p:txBody>
      </p:sp>
      <p:sp>
        <p:nvSpPr>
          <p:cNvPr id="10" name="Network metric description"/>
          <p:cNvSpPr txBox="1"/>
          <p:nvPr/>
        </p:nvSpPr>
        <p:spPr>
          <a:xfrm>
            <a:off x="2487168" y="5001768"/>
            <a:ext cx="8156448" cy="51860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chemeClr val="accent1"/>
                </a:solidFill>
                <a:latin typeface="Consolas"/>
              </a:rPr>
              <a:t>NETWORK</a:t>
            </a:r>
            <a:r>
              <a:rPr lang="en-US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50" dirty="0">
                <a:solidFill>
                  <a:schemeClr val="lt1"/>
                </a:solidFill>
                <a:latin typeface="Candara"/>
              </a:rPr>
              <a:t>Measures traffic volume, latency, errors, and dropped packets.</a:t>
            </a:r>
            <a:br>
              <a:rPr dirty="0"/>
            </a:b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50" dirty="0">
                <a:solidFill>
                  <a:schemeClr val="lt2"/>
                </a:solidFill>
                <a:latin typeface="Candara"/>
              </a:rPr>
              <a:t>Diagnose congestion, packet loss, and connectivity issues.</a:t>
            </a:r>
          </a:p>
        </p:txBody>
      </p:sp>
    </p:spTree>
    <p:extLst>
      <p:ext uri="{BB962C8B-B14F-4D97-AF65-F5344CB8AC3E}">
        <p14:creationId xmlns:p14="http://schemas.microsoft.com/office/powerpoint/2010/main" val="152759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2697-5B33-2FEC-D2D2-D18161688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DFB82-806D-91B0-9DB8-0F770CC6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7168" y="1764792"/>
            <a:ext cx="8156448" cy="841248"/>
          </a:xfrm>
        </p:spPr>
        <p:txBody>
          <a:bodyPr wrap="square" lIns="27432" tIns="9144" rIns="27432" bIns="9144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accent1"/>
                </a:solidFill>
                <a:latin typeface="Consolas"/>
              </a:rPr>
              <a:t>CPU SATURATION </a:t>
            </a:r>
            <a:r>
              <a:rPr lang="en-US" sz="1600" dirty="0">
                <a:solidFill>
                  <a:schemeClr val="lt1"/>
                </a:solidFill>
                <a:latin typeface="Candara"/>
              </a:rPr>
              <a:t>Runnable work is waiting because all processor cores are busy.</a:t>
            </a:r>
            <a:endParaRPr lang="en-US" dirty="0"/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lang="en-US" sz="1400" dirty="0">
                <a:solidFill>
                  <a:schemeClr val="lt2"/>
                </a:solidFill>
                <a:latin typeface="Candara"/>
              </a:rPr>
              <a:t>Confirm with sustained high CPU and a growing run queue or load.</a:t>
            </a:r>
          </a:p>
        </p:txBody>
      </p:sp>
      <p:sp>
        <p:nvSpPr>
          <p:cNvPr id="4" name="Memory Saturation description"/>
          <p:cNvSpPr txBox="1"/>
          <p:nvPr/>
        </p:nvSpPr>
        <p:spPr>
          <a:xfrm>
            <a:off x="2487168" y="2843784"/>
            <a:ext cx="8156448" cy="5083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chemeClr val="accent1"/>
                </a:solidFill>
                <a:latin typeface="Consolas"/>
              </a:rPr>
              <a:t>MEMORY SATURATION</a:t>
            </a:r>
            <a:r>
              <a:rPr lang="en-US" sz="1700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00" dirty="0">
                <a:solidFill>
                  <a:schemeClr val="lt1"/>
                </a:solidFill>
                <a:latin typeface="Candara"/>
              </a:rPr>
              <a:t>Available RAM is exhausted, forcing paging or aggressive reclaim.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00" dirty="0">
                <a:solidFill>
                  <a:schemeClr val="lt2"/>
                </a:solidFill>
                <a:latin typeface="Candara"/>
              </a:rPr>
              <a:t>Look for low available memory, swap growth, and page-fault spikes.</a:t>
            </a:r>
          </a:p>
        </p:txBody>
      </p:sp>
      <p:sp>
        <p:nvSpPr>
          <p:cNvPr id="5" name="Disk Saturation description"/>
          <p:cNvSpPr txBox="1"/>
          <p:nvPr/>
        </p:nvSpPr>
        <p:spPr>
          <a:xfrm>
            <a:off x="2487168" y="3922776"/>
            <a:ext cx="8156448" cy="5083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chemeClr val="accent1"/>
                </a:solidFill>
                <a:latin typeface="Consolas"/>
              </a:rPr>
              <a:t>DISK SATURATION</a:t>
            </a:r>
            <a:r>
              <a:rPr lang="en-US" sz="1700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00" dirty="0">
                <a:solidFill>
                  <a:schemeClr val="lt1"/>
                </a:solidFill>
                <a:latin typeface="Candara"/>
              </a:rPr>
              <a:t>I/O requests arrive faster than the storage device can complete them.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00" dirty="0">
                <a:solidFill>
                  <a:schemeClr val="lt2"/>
                </a:solidFill>
                <a:latin typeface="Candara"/>
              </a:rPr>
              <a:t>Watch for high latency, long queues, and continuous device busy time.</a:t>
            </a:r>
          </a:p>
        </p:txBody>
      </p:sp>
      <p:sp>
        <p:nvSpPr>
          <p:cNvPr id="6" name="Network Saturation description"/>
          <p:cNvSpPr txBox="1"/>
          <p:nvPr/>
        </p:nvSpPr>
        <p:spPr>
          <a:xfrm>
            <a:off x="2487168" y="5001768"/>
            <a:ext cx="8156448" cy="5083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chemeClr val="accent1"/>
                </a:solidFill>
                <a:latin typeface="Consolas"/>
              </a:rPr>
              <a:t>NETWORK SATURATION</a:t>
            </a:r>
            <a:r>
              <a:rPr lang="en-US" sz="1700" b="1" dirty="0">
                <a:solidFill>
                  <a:schemeClr val="accent1"/>
                </a:solidFill>
                <a:latin typeface="Consolas"/>
              </a:rPr>
              <a:t> </a:t>
            </a:r>
            <a:r>
              <a:rPr sz="1600" dirty="0">
                <a:solidFill>
                  <a:schemeClr val="lt1"/>
                </a:solidFill>
                <a:latin typeface="Candara"/>
              </a:rPr>
              <a:t>Traffic approaches link capacity or overwhelms the network path.</a:t>
            </a:r>
          </a:p>
          <a:p>
            <a: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sz="1250" b="1" dirty="0">
                <a:solidFill>
                  <a:schemeClr val="accent1"/>
                </a:solidFill>
                <a:latin typeface="Consolas"/>
              </a:rPr>
              <a:t>USE  </a:t>
            </a:r>
            <a:r>
              <a:rPr sz="1400" dirty="0">
                <a:solidFill>
                  <a:schemeClr val="lt2"/>
                </a:solidFill>
                <a:latin typeface="Candara"/>
              </a:rPr>
              <a:t>Correlate throughput plateaus with latency, drops, or retransmits.</a:t>
            </a:r>
          </a:p>
        </p:txBody>
      </p:sp>
      <p:pic>
        <p:nvPicPr>
          <p:cNvPr id="7" name="CPU saturation icon" descr="CPU saturation warning icon in neon technical circuit-line sty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6" y="1764792"/>
            <a:ext cx="567866" cy="621792"/>
          </a:xfrm>
          <a:prstGeom prst="rect">
            <a:avLst/>
          </a:prstGeom>
        </p:spPr>
      </p:pic>
      <p:pic>
        <p:nvPicPr>
          <p:cNvPr id="8" name="Memory saturation icon" descr="Memory saturation warning icon in neon technical circuit-line 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2949291"/>
            <a:ext cx="621792" cy="410776"/>
          </a:xfrm>
          <a:prstGeom prst="rect">
            <a:avLst/>
          </a:prstGeom>
        </p:spPr>
      </p:pic>
      <p:pic>
        <p:nvPicPr>
          <p:cNvPr id="9" name="Disk saturation icon" descr="Disk saturation warning icon in neon technical circuit-line sty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3967828"/>
            <a:ext cx="621792" cy="531686"/>
          </a:xfrm>
          <a:prstGeom prst="rect">
            <a:avLst/>
          </a:prstGeom>
        </p:spPr>
      </p:pic>
      <p:pic>
        <p:nvPicPr>
          <p:cNvPr id="10" name="Network saturation icon" descr="Network saturation warning icon in neon technical circuit-line styl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9344" y="5089279"/>
            <a:ext cx="621792" cy="4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84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FEA9D-CA28-B1B1-4DDF-8DAB7F575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Tools</a:t>
            </a:r>
          </a:p>
        </p:txBody>
      </p:sp>
      <p:sp>
        <p:nvSpPr>
          <p:cNvPr id="3" name="Grid divider"/>
          <p:cNvSpPr/>
          <p:nvPr/>
        </p:nvSpPr>
        <p:spPr>
          <a:xfrm>
            <a:off x="6089904" y="1755648"/>
            <a:ext cx="16459" cy="4297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rid divider"/>
          <p:cNvSpPr/>
          <p:nvPr/>
        </p:nvSpPr>
        <p:spPr>
          <a:xfrm>
            <a:off x="1527048" y="3904487"/>
            <a:ext cx="9144000" cy="16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TASK MANAGER pictogram" descr="Generic technical pictogram representing TASK MANAGER; not a produ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163209"/>
            <a:ext cx="960120" cy="894805"/>
          </a:xfrm>
          <a:prstGeom prst="rect">
            <a:avLst/>
          </a:prstGeom>
        </p:spPr>
      </p:pic>
      <p:sp>
        <p:nvSpPr>
          <p:cNvPr id="6" name="TASK MANAGER listing"/>
          <p:cNvSpPr txBox="1"/>
          <p:nvPr/>
        </p:nvSpPr>
        <p:spPr>
          <a:xfrm>
            <a:off x="2743200" y="1956816"/>
            <a:ext cx="3182112" cy="1600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TASK MANAGER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WINDOWS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50">
                <a:solidFill>
                  <a:schemeClr val="lt1"/>
                </a:solidFill>
                <a:latin typeface="Candara"/>
              </a:rPr>
              <a:t>Graphical overview of CPU, memory, disk, and network</a:t>
            </a:r>
          </a:p>
        </p:txBody>
      </p:sp>
      <p:pic>
        <p:nvPicPr>
          <p:cNvPr id="7" name="TOP / HTOP pictogram" descr="Generic technical pictogram representing TOP / HTOP; not a product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964" y="2130552"/>
            <a:ext cx="956895" cy="960120"/>
          </a:xfrm>
          <a:prstGeom prst="rect">
            <a:avLst/>
          </a:prstGeom>
        </p:spPr>
      </p:pic>
      <p:sp>
        <p:nvSpPr>
          <p:cNvPr id="8" name="TOP / HTOP listing"/>
          <p:cNvSpPr txBox="1"/>
          <p:nvPr/>
        </p:nvSpPr>
        <p:spPr>
          <a:xfrm>
            <a:off x="7415783" y="1956816"/>
            <a:ext cx="3182112" cy="1600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TOP / HTOP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LINUX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50">
                <a:solidFill>
                  <a:schemeClr val="lt1"/>
                </a:solidFill>
                <a:latin typeface="Candara"/>
              </a:rPr>
              <a:t>Real-time command-line monitoring of resource usage</a:t>
            </a:r>
          </a:p>
        </p:txBody>
      </p:sp>
      <p:pic>
        <p:nvPicPr>
          <p:cNvPr id="9" name="PERFMON pictogram" descr="Generic technical pictogram representing PERFMON; not a product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7554" y="4370831"/>
            <a:ext cx="890546" cy="960120"/>
          </a:xfrm>
          <a:prstGeom prst="rect">
            <a:avLst/>
          </a:prstGeom>
        </p:spPr>
      </p:pic>
      <p:sp>
        <p:nvSpPr>
          <p:cNvPr id="10" name="PERFMON listing"/>
          <p:cNvSpPr txBox="1"/>
          <p:nvPr/>
        </p:nvSpPr>
        <p:spPr>
          <a:xfrm>
            <a:off x="2743200" y="4197096"/>
            <a:ext cx="3182112" cy="1600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PERFMON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WINDOWS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50">
                <a:solidFill>
                  <a:schemeClr val="lt1"/>
                </a:solidFill>
                <a:latin typeface="Candara"/>
              </a:rPr>
              <a:t>Advanced tracking of detailed performance counters</a:t>
            </a:r>
          </a:p>
        </p:txBody>
      </p:sp>
      <p:pic>
        <p:nvPicPr>
          <p:cNvPr id="11" name="IOSTAT pictogram" descr="Generic technical pictogram representing IOSTAT; not a product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4370831"/>
            <a:ext cx="960120" cy="960120"/>
          </a:xfrm>
          <a:prstGeom prst="rect">
            <a:avLst/>
          </a:prstGeom>
        </p:spPr>
      </p:pic>
      <p:sp>
        <p:nvSpPr>
          <p:cNvPr id="12" name="IOSTAT listing"/>
          <p:cNvSpPr txBox="1"/>
          <p:nvPr/>
        </p:nvSpPr>
        <p:spPr>
          <a:xfrm>
            <a:off x="7415783" y="4197096"/>
            <a:ext cx="3182112" cy="1600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IOSTAT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LINUX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50">
                <a:solidFill>
                  <a:schemeClr val="lt1"/>
                </a:solidFill>
                <a:latin typeface="Candara"/>
              </a:rPr>
              <a:t>Disk I/O statistics</a:t>
            </a:r>
          </a:p>
        </p:txBody>
      </p:sp>
    </p:spTree>
    <p:extLst>
      <p:ext uri="{BB962C8B-B14F-4D97-AF65-F5344CB8AC3E}">
        <p14:creationId xmlns:p14="http://schemas.microsoft.com/office/powerpoint/2010/main" val="754303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D146-C879-405D-AC9B-3D136C49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CPU Utilization vs. Load Average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0760" y="1627632"/>
            <a:ext cx="16459" cy="290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27048" y="4553712"/>
            <a:ext cx="9144000" cy="16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PU utilization header"/>
          <p:cNvSpPr txBox="1"/>
          <p:nvPr/>
        </p:nvSpPr>
        <p:spPr>
          <a:xfrm>
            <a:off x="1572768" y="1609344"/>
            <a:ext cx="42793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CPU UTILIZATION</a:t>
            </a:r>
          </a:p>
        </p:txBody>
      </p:sp>
      <p:sp>
        <p:nvSpPr>
          <p:cNvPr id="6" name="Load average header"/>
          <p:cNvSpPr txBox="1"/>
          <p:nvPr/>
        </p:nvSpPr>
        <p:spPr>
          <a:xfrm>
            <a:off x="6327648" y="1609344"/>
            <a:ext cx="42793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LOAD AVERAGE</a:t>
            </a:r>
          </a:p>
        </p:txBody>
      </p:sp>
      <p:sp>
        <p:nvSpPr>
          <p:cNvPr id="7" name="CPU utilization readout"/>
          <p:cNvSpPr txBox="1"/>
          <p:nvPr/>
        </p:nvSpPr>
        <p:spPr>
          <a:xfrm>
            <a:off x="1572768" y="2011680"/>
            <a:ext cx="4279392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chemeClr val="lt1"/>
                </a:solidFill>
                <a:latin typeface="Consolas"/>
              </a:rPr>
              <a:t>0–100%</a:t>
            </a:r>
            <a:r>
              <a:rPr sz="1100" b="1">
                <a:solidFill>
                  <a:schemeClr val="accent1"/>
                </a:solidFill>
                <a:latin typeface="Consolas"/>
              </a:rPr>
              <a:t>  CAPACITY USED</a:t>
            </a:r>
          </a:p>
        </p:txBody>
      </p:sp>
      <p:sp>
        <p:nvSpPr>
          <p:cNvPr id="8" name="Load average readout"/>
          <p:cNvSpPr txBox="1"/>
          <p:nvPr/>
        </p:nvSpPr>
        <p:spPr>
          <a:xfrm>
            <a:off x="6327648" y="2011680"/>
            <a:ext cx="4279392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chemeClr val="lt1"/>
                </a:solidFill>
                <a:latin typeface="Consolas"/>
              </a:rPr>
              <a:t>1 / 5 / 15</a:t>
            </a:r>
            <a:r>
              <a:rPr sz="1100" b="1">
                <a:solidFill>
                  <a:schemeClr val="accent1"/>
                </a:solidFill>
                <a:latin typeface="Consolas"/>
              </a:rPr>
              <a:t>  MINUTES</a:t>
            </a:r>
          </a:p>
        </p:txBody>
      </p:sp>
      <p:sp>
        <p:nvSpPr>
          <p:cNvPr id="9" name="CPU comparison"/>
          <p:cNvSpPr txBox="1"/>
          <p:nvPr/>
        </p:nvSpPr>
        <p:spPr>
          <a:xfrm>
            <a:off x="1572768" y="2578608"/>
            <a:ext cx="4279392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MEASURES  </a:t>
            </a:r>
            <a:r>
              <a:rPr sz="1600" b="0">
                <a:solidFill>
                  <a:schemeClr val="lt1"/>
                </a:solidFill>
                <a:latin typeface="Candara"/>
              </a:rPr>
              <a:t>Time the CPUs spend doing work instead of idling.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BEST FOR  </a:t>
            </a:r>
            <a:r>
              <a:rPr sz="1600" b="0">
                <a:solidFill>
                  <a:schemeClr val="lt1"/>
                </a:solidFill>
                <a:latin typeface="Candara"/>
              </a:rPr>
              <a:t>Confirming how much processor capacity the test consumes.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WATCH OUT  </a:t>
            </a:r>
            <a:r>
              <a:rPr sz="1600" b="0">
                <a:solidFill>
                  <a:schemeClr val="lt2"/>
                </a:solidFill>
                <a:latin typeface="Candara"/>
              </a:rPr>
              <a:t>An average can hide one hot core—and it does not show queued work.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2"/>
              </a:solidFill>
              <a:latin typeface="Candara"/>
            </a:endParaRPr>
          </a:p>
        </p:txBody>
      </p:sp>
      <p:sp>
        <p:nvSpPr>
          <p:cNvPr id="10" name="Load comparison"/>
          <p:cNvSpPr txBox="1"/>
          <p:nvPr/>
        </p:nvSpPr>
        <p:spPr>
          <a:xfrm>
            <a:off x="6327648" y="2578608"/>
            <a:ext cx="4279392" cy="1618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MEASURES  </a:t>
            </a:r>
            <a:r>
              <a:rPr sz="1600" b="0">
                <a:solidFill>
                  <a:schemeClr val="lt1"/>
                </a:solidFill>
                <a:latin typeface="Candara"/>
              </a:rPr>
              <a:t>Runnable plus uninterruptible tasks, averaged over time.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BEST FOR  </a:t>
            </a:r>
            <a:r>
              <a:rPr sz="1600" b="0">
                <a:solidFill>
                  <a:schemeClr val="lt1"/>
                </a:solidFill>
                <a:latin typeface="Candara"/>
              </a:rPr>
              <a:t>Revealing sustained demand and work waiting to run or complete I/O.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WATCH OUT  </a:t>
            </a:r>
            <a:r>
              <a:rPr sz="1600" b="0">
                <a:solidFill>
                  <a:schemeClr val="lt2"/>
                </a:solidFill>
                <a:latin typeface="Candara"/>
              </a:rPr>
              <a:t>Compare with logical CPU count; on Linux, load is not CPU-only.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chemeClr val="lt2"/>
              </a:solidFill>
              <a:latin typeface="Candara"/>
            </a:endParaRPr>
          </a:p>
        </p:txBody>
      </p:sp>
      <p:sp>
        <p:nvSpPr>
          <p:cNvPr id="11" name="Read together label"/>
          <p:cNvSpPr txBox="1"/>
          <p:nvPr/>
        </p:nvSpPr>
        <p:spPr>
          <a:xfrm>
            <a:off x="1572768" y="4617720"/>
            <a:ext cx="22402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accent1"/>
                </a:solidFill>
                <a:latin typeface="Consolas"/>
              </a:rPr>
              <a:t>READ THEM TOGETHER</a:t>
            </a:r>
          </a:p>
        </p:txBody>
      </p:sp>
      <p:sp>
        <p:nvSpPr>
          <p:cNvPr id="12" name="CPU queueing"/>
          <p:cNvSpPr txBox="1"/>
          <p:nvPr/>
        </p:nvSpPr>
        <p:spPr>
          <a:xfrm>
            <a:off x="1572768" y="4965192"/>
            <a:ext cx="278892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Consolas"/>
              </a:rPr>
              <a:t>CPU % ↑  +  LOAD 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lt2"/>
                </a:solidFill>
                <a:latin typeface="Candara"/>
              </a:rPr>
              <a:t>CPU contention / queueing</a:t>
            </a:r>
          </a:p>
        </p:txBody>
      </p:sp>
      <p:sp>
        <p:nvSpPr>
          <p:cNvPr id="13" name="IO blocking"/>
          <p:cNvSpPr txBox="1"/>
          <p:nvPr/>
        </p:nvSpPr>
        <p:spPr>
          <a:xfrm>
            <a:off x="4498848" y="4965192"/>
            <a:ext cx="2834640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Consolas"/>
              </a:rPr>
              <a:t>CPU % ↔  +  LOAD 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lt2"/>
                </a:solidFill>
                <a:latin typeface="Candara"/>
              </a:rPr>
              <a:t>Investigate I/O or blocked work</a:t>
            </a:r>
          </a:p>
        </p:txBody>
      </p:sp>
      <p:sp>
        <p:nvSpPr>
          <p:cNvPr id="14" name="Busy no queue"/>
          <p:cNvSpPr txBox="1"/>
          <p:nvPr/>
        </p:nvSpPr>
        <p:spPr>
          <a:xfrm>
            <a:off x="7479792" y="4965192"/>
            <a:ext cx="3127248" cy="5852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lt1"/>
                </a:solidFill>
                <a:latin typeface="Consolas"/>
              </a:rPr>
              <a:t>CPU % ↑  +  LOAD ↔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lt2"/>
                </a:solidFill>
                <a:latin typeface="Candara"/>
              </a:rPr>
              <a:t>Busy, but little accumulated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2768" y="5733288"/>
            <a:ext cx="9034272" cy="10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Performance testing takeaway"/>
          <p:cNvSpPr txBox="1"/>
          <p:nvPr/>
        </p:nvSpPr>
        <p:spPr>
          <a:xfrm>
            <a:off x="1572768" y="5852160"/>
            <a:ext cx="9034272" cy="51398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>
                <a:solidFill>
                  <a:schemeClr val="accent1"/>
                </a:solidFill>
                <a:latin typeface="Consolas"/>
              </a:rPr>
              <a:t>WHY IT MATTERS  </a:t>
            </a:r>
            <a:r>
              <a:rPr sz="1550" b="0" dirty="0">
                <a:solidFill>
                  <a:schemeClr val="lt1"/>
                </a:solidFill>
                <a:latin typeface="Candara"/>
              </a:rPr>
              <a:t>Utilization shows consumption; load reveals contention. Correlate both with throughput and response time to find the saturation </a:t>
            </a:r>
            <a:r>
              <a:rPr lang="en-US" sz="1550" b="0" dirty="0">
                <a:solidFill>
                  <a:schemeClr val="lt1"/>
                </a:solidFill>
                <a:latin typeface="Candara"/>
              </a:rPr>
              <a:t>point</a:t>
            </a:r>
            <a:r>
              <a:rPr sz="1550" b="0" dirty="0">
                <a:solidFill>
                  <a:schemeClr val="lt1"/>
                </a:solidFill>
                <a:latin typeface="Candara"/>
              </a:rPr>
              <a:t> and separate CPU pressure from I/O pressure.</a:t>
            </a:r>
          </a:p>
        </p:txBody>
      </p:sp>
    </p:spTree>
    <p:extLst>
      <p:ext uri="{BB962C8B-B14F-4D97-AF65-F5344CB8AC3E}">
        <p14:creationId xmlns:p14="http://schemas.microsoft.com/office/powerpoint/2010/main" val="204121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33547-F4D5-05A1-FD73-A8026BBFD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Consumption vs. Memory Leak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0760" y="1627632"/>
            <a:ext cx="16459" cy="2944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527048" y="4572000"/>
            <a:ext cx="9144000" cy="164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althy header"/>
          <p:cNvSpPr txBox="1"/>
          <p:nvPr/>
        </p:nvSpPr>
        <p:spPr>
          <a:xfrm>
            <a:off x="1572768" y="1609344"/>
            <a:ext cx="42793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HEALTHY CONSUMPTION</a:t>
            </a:r>
          </a:p>
        </p:txBody>
      </p:sp>
      <p:sp>
        <p:nvSpPr>
          <p:cNvPr id="6" name="Leak header"/>
          <p:cNvSpPr txBox="1"/>
          <p:nvPr/>
        </p:nvSpPr>
        <p:spPr>
          <a:xfrm>
            <a:off x="6327648" y="1609344"/>
            <a:ext cx="4279392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chemeClr val="accent1"/>
                </a:solidFill>
                <a:latin typeface="Consolas"/>
              </a:rPr>
              <a:t>MEMORY LEAK</a:t>
            </a:r>
          </a:p>
        </p:txBody>
      </p:sp>
      <p:sp>
        <p:nvSpPr>
          <p:cNvPr id="7" name="Healthy pattern"/>
          <p:cNvSpPr txBox="1"/>
          <p:nvPr/>
        </p:nvSpPr>
        <p:spPr>
          <a:xfrm>
            <a:off x="1572768" y="2011680"/>
            <a:ext cx="4279392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dirty="0">
                <a:solidFill>
                  <a:schemeClr val="lt1"/>
                </a:solidFill>
                <a:latin typeface="Consolas"/>
              </a:rPr>
              <a:t>RAMP → PLATEAU</a:t>
            </a:r>
          </a:p>
        </p:txBody>
      </p:sp>
      <p:sp>
        <p:nvSpPr>
          <p:cNvPr id="8" name="Leak pattern"/>
          <p:cNvSpPr txBox="1"/>
          <p:nvPr/>
        </p:nvSpPr>
        <p:spPr>
          <a:xfrm>
            <a:off x="6327648" y="2011680"/>
            <a:ext cx="4279392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700" b="1">
                <a:solidFill>
                  <a:schemeClr val="lt1"/>
                </a:solidFill>
                <a:latin typeface="Consolas"/>
              </a:rPr>
              <a:t>CONSTANT</a:t>
            </a:r>
            <a:r>
              <a:rPr sz="2700" b="1">
                <a:solidFill>
                  <a:schemeClr val="lt1"/>
                </a:solidFill>
                <a:latin typeface="Consolas"/>
              </a:rPr>
              <a:t> </a:t>
            </a:r>
            <a:r>
              <a:rPr sz="2700" b="1" dirty="0">
                <a:solidFill>
                  <a:schemeClr val="lt1"/>
                </a:solidFill>
                <a:latin typeface="Consolas"/>
              </a:rPr>
              <a:t>↑</a:t>
            </a:r>
          </a:p>
        </p:txBody>
      </p:sp>
      <p:sp>
        <p:nvSpPr>
          <p:cNvPr id="9" name="Healthy comparison"/>
          <p:cNvSpPr txBox="1"/>
          <p:nvPr/>
        </p:nvSpPr>
        <p:spPr>
          <a:xfrm>
            <a:off x="1572768" y="2615184"/>
            <a:ext cx="4279392" cy="17556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WHAT IT IS  </a:t>
            </a:r>
            <a:r>
              <a:rPr sz="1550" b="0">
                <a:solidFill>
                  <a:schemeClr val="lt1"/>
                </a:solidFill>
                <a:latin typeface="Candara"/>
              </a:rPr>
              <a:t>Memory actively used for workload, caches, buffers, and runtime overhead.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EXPECTED  </a:t>
            </a:r>
            <a:r>
              <a:rPr sz="1550" b="0">
                <a:solidFill>
                  <a:schemeClr val="lt1"/>
                </a:solidFill>
                <a:latin typeface="Candara"/>
              </a:rPr>
              <a:t>Growth follows concurrency or data volume, then stabilizes within capacity.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RECOVERY  </a:t>
            </a:r>
            <a:r>
              <a:rPr sz="1550" b="0">
                <a:solidFill>
                  <a:schemeClr val="lt1"/>
                </a:solidFill>
                <a:latin typeface="Candara"/>
              </a:rPr>
              <a:t>After load falls or collection runs, usage returns toward a repeatable baseline.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</p:txBody>
      </p:sp>
      <p:sp>
        <p:nvSpPr>
          <p:cNvPr id="10" name="Leak comparison"/>
          <p:cNvSpPr txBox="1"/>
          <p:nvPr/>
        </p:nvSpPr>
        <p:spPr>
          <a:xfrm>
            <a:off x="6327648" y="2615184"/>
            <a:ext cx="4279392" cy="17556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WHAT IT IS  </a:t>
            </a:r>
            <a:r>
              <a:rPr sz="1550" b="0">
                <a:solidFill>
                  <a:schemeClr val="lt1"/>
                </a:solidFill>
                <a:latin typeface="Candara"/>
              </a:rPr>
              <a:t>Memory remains referenced even though the application no longer needs 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WARNING  </a:t>
            </a:r>
            <a:r>
              <a:rPr sz="1550" b="0">
                <a:solidFill>
                  <a:schemeClr val="lt1"/>
                </a:solidFill>
                <a:latin typeface="Candara"/>
              </a:rPr>
              <a:t>Usage keeps climbing under steady workload; each cycle starts from a higher baseline.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IMPACT  </a:t>
            </a:r>
            <a:r>
              <a:rPr sz="1550" b="0">
                <a:solidFill>
                  <a:schemeClr val="lt1"/>
                </a:solidFill>
                <a:latin typeface="Candara"/>
              </a:rPr>
              <a:t>More collection, longer pauses, paging, instability, and eventual out-of-memory failure.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1550" b="0">
              <a:solidFill>
                <a:schemeClr val="lt1"/>
              </a:solidFill>
              <a:latin typeface="Candara"/>
            </a:endParaRPr>
          </a:p>
        </p:txBody>
      </p:sp>
      <p:sp>
        <p:nvSpPr>
          <p:cNvPr id="11" name="Test label"/>
          <p:cNvSpPr txBox="1"/>
          <p:nvPr/>
        </p:nvSpPr>
        <p:spPr>
          <a:xfrm>
            <a:off x="1572768" y="4727448"/>
            <a:ext cx="23774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accent1"/>
                </a:solidFill>
                <a:latin typeface="Consolas"/>
              </a:rPr>
              <a:t>PROVE IT UNDER TEST</a:t>
            </a:r>
          </a:p>
        </p:txBody>
      </p:sp>
      <p:sp>
        <p:nvSpPr>
          <p:cNvPr id="12" name="01  HOLD LOAD STEADY"/>
          <p:cNvSpPr txBox="1"/>
          <p:nvPr/>
        </p:nvSpPr>
        <p:spPr>
          <a:xfrm>
            <a:off x="1572768" y="5102352"/>
            <a:ext cx="2816352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chemeClr val="lt1"/>
                </a:solidFill>
                <a:latin typeface="Consolas"/>
              </a:rPr>
              <a:t>01  HOLD LOAD STEADY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chemeClr val="lt2"/>
                </a:solidFill>
                <a:latin typeface="Candara"/>
              </a:rPr>
              <a:t>If memory still climbs while throughput is flat, suspect retention—not demand.</a:t>
            </a:r>
          </a:p>
        </p:txBody>
      </p:sp>
      <p:sp>
        <p:nvSpPr>
          <p:cNvPr id="13" name="02  CHECK RECOVERY"/>
          <p:cNvSpPr txBox="1"/>
          <p:nvPr/>
        </p:nvSpPr>
        <p:spPr>
          <a:xfrm>
            <a:off x="4535424" y="5102352"/>
            <a:ext cx="2816352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chemeClr val="lt1"/>
                </a:solidFill>
                <a:latin typeface="Consolas"/>
              </a:rPr>
              <a:t>02  CHECK RECOVERY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chemeClr val="lt2"/>
                </a:solidFill>
                <a:latin typeface="Candara"/>
              </a:rPr>
              <a:t>Compare the same post-warm-up checkpoint after load drops and collection completes.</a:t>
            </a:r>
          </a:p>
        </p:txBody>
      </p:sp>
      <p:sp>
        <p:nvSpPr>
          <p:cNvPr id="14" name="03  CORRELATE SIGNALS"/>
          <p:cNvSpPr txBox="1"/>
          <p:nvPr/>
        </p:nvSpPr>
        <p:spPr>
          <a:xfrm>
            <a:off x="7498079" y="5102352"/>
            <a:ext cx="2816352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chemeClr val="lt1"/>
                </a:solidFill>
                <a:latin typeface="Consolas"/>
              </a:rPr>
              <a:t>03  CORRELATE SIGNALS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chemeClr val="lt2"/>
                </a:solidFill>
                <a:latin typeface="Candara"/>
              </a:rPr>
              <a:t>Use working set, committed/heap size, GC rate, and retained-object evidence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72768" y="5989320"/>
            <a:ext cx="9034272" cy="109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akeaway"/>
          <p:cNvSpPr txBox="1"/>
          <p:nvPr/>
        </p:nvSpPr>
        <p:spPr>
          <a:xfrm>
            <a:off x="1572768" y="6099048"/>
            <a:ext cx="9034272" cy="2677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chemeClr val="accent1"/>
                </a:solidFill>
                <a:latin typeface="Consolas"/>
              </a:rPr>
              <a:t>BOTTOM LINE  </a:t>
            </a:r>
            <a:r>
              <a:rPr sz="1500" b="0">
                <a:solidFill>
                  <a:schemeClr val="lt1"/>
                </a:solidFill>
                <a:latin typeface="Candara"/>
              </a:rPr>
              <a:t>High </a:t>
            </a:r>
            <a:r>
              <a:rPr lang="en-US" sz="1500" b="0">
                <a:solidFill>
                  <a:schemeClr val="lt1"/>
                </a:solidFill>
                <a:latin typeface="Candara"/>
              </a:rPr>
              <a:t>usage </a:t>
            </a:r>
            <a:r>
              <a:rPr sz="1500" b="0">
                <a:solidFill>
                  <a:schemeClr val="lt1"/>
                </a:solidFill>
                <a:latin typeface="Candara"/>
              </a:rPr>
              <a:t>is </a:t>
            </a:r>
            <a:r>
              <a:rPr lang="en-US" sz="1500" b="0">
                <a:solidFill>
                  <a:schemeClr val="lt1"/>
                </a:solidFill>
                <a:latin typeface="Candara"/>
              </a:rPr>
              <a:t>normal if it stabilizes and recovers; </a:t>
            </a:r>
            <a:r>
              <a:rPr sz="1500" b="0">
                <a:solidFill>
                  <a:schemeClr val="lt1"/>
                </a:solidFill>
                <a:latin typeface="Candara"/>
              </a:rPr>
              <a:t>a leak</a:t>
            </a:r>
            <a:r>
              <a:rPr lang="en-US" sz="1500" b="0">
                <a:solidFill>
                  <a:schemeClr val="lt1"/>
                </a:solidFill>
                <a:latin typeface="Candara"/>
              </a:rPr>
              <a:t> keeps raising the post-cycle baseline</a:t>
            </a:r>
            <a:r>
              <a:rPr sz="1500" b="0">
                <a:solidFill>
                  <a:schemeClr val="lt1"/>
                </a:solidFill>
                <a:latin typeface="Candar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8985304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technology circuit board design presentation (widescreen)</Template>
  <TotalTime>74</TotalTime>
  <Words>621</Words>
  <Application>Microsoft Office PowerPoint</Application>
  <PresentationFormat>Widescreen</PresentationFormat>
  <Paragraphs>76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Candara</vt:lpstr>
      <vt:lpstr>Consolas</vt:lpstr>
      <vt:lpstr>Tech Computer 16x9</vt:lpstr>
      <vt:lpstr>OS Metrics</vt:lpstr>
      <vt:lpstr>Basic Metrics</vt:lpstr>
      <vt:lpstr>Saturation Patterns</vt:lpstr>
      <vt:lpstr>Monitoring Tools</vt:lpstr>
      <vt:lpstr>CPU Utilization vs. Load Average</vt:lpstr>
      <vt:lpstr>Memory Consumption vs. Memory Leak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5</cp:revision>
  <dcterms:created xsi:type="dcterms:W3CDTF">2026-10-14T18:46:04Z</dcterms:created>
  <dcterms:modified xsi:type="dcterms:W3CDTF">2026-10-16T13:15:05Z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