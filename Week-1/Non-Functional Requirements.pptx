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5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7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1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6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5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5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4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2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2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8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1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7829D-7943-1724-5758-4DC01D98F2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66" b="34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1906"/>
            <a:ext cx="12191999" cy="1246094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4A28E-72D2-8325-3991-02C70295A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95685"/>
            <a:ext cx="8183880" cy="96012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Non-Functional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4111D-E9AC-96F6-75AF-705BCE69F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7818" y="5795685"/>
            <a:ext cx="3409109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900" dirty="0"/>
              <a:t>And Metrics</a:t>
            </a:r>
          </a:p>
        </p:txBody>
      </p:sp>
    </p:spTree>
    <p:extLst>
      <p:ext uri="{BB962C8B-B14F-4D97-AF65-F5344CB8AC3E}">
        <p14:creationId xmlns:p14="http://schemas.microsoft.com/office/powerpoint/2010/main" val="4055346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0205-56CF-A6EE-D6A4-2883579B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lang="en-US"/>
              <a:t>SLA defines the customer-facing commitment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481328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9A42"/>
                </a:solidFill>
                <a:latin typeface="+mn-lt"/>
              </a:rPr>
              <a:t>SERVICE LEVEL AGREEMENT  /  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6592" y="1965960"/>
            <a:ext cx="9144" cy="3822191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2011680"/>
            <a:ext cx="3611880" cy="1143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932"/>
                </a:solidFill>
                <a:latin typeface="+mn-lt"/>
              </a:rPr>
              <a:t>A </a:t>
            </a:r>
            <a:r>
              <a:rPr lang="en-US" sz="2400" b="1" i="0">
                <a:solidFill>
                  <a:srgbClr val="2C3932"/>
                </a:solidFill>
                <a:latin typeface="+mn-lt"/>
              </a:rPr>
              <a:t>customer-facing </a:t>
            </a:r>
            <a:r>
              <a:rPr sz="2400" b="1" i="0">
                <a:solidFill>
                  <a:srgbClr val="2C3932"/>
                </a:solidFill>
                <a:latin typeface="+mn-lt"/>
              </a:rPr>
              <a:t>legal agreement </a:t>
            </a:r>
            <a:r>
              <a:rPr lang="en-US" sz="2400" b="1" i="0">
                <a:solidFill>
                  <a:srgbClr val="2C3932"/>
                </a:solidFill>
                <a:latin typeface="+mn-lt"/>
              </a:rPr>
              <a:t>for </a:t>
            </a:r>
            <a:r>
              <a:rPr sz="2400" b="1" i="0">
                <a:solidFill>
                  <a:srgbClr val="2C3932"/>
                </a:solidFill>
                <a:latin typeface="+mn-lt"/>
              </a:rPr>
              <a:t>service </a:t>
            </a:r>
            <a:r>
              <a:rPr lang="en-US" sz="2400" b="1" i="0">
                <a:solidFill>
                  <a:srgbClr val="2C3932"/>
                </a:solidFill>
                <a:latin typeface="+mn-lt"/>
              </a:rPr>
              <a:t>performance</a:t>
            </a:r>
            <a:r>
              <a:rPr sz="2400" b="1" i="0">
                <a:solidFill>
                  <a:srgbClr val="2C3932"/>
                </a:solidFill>
                <a:latin typeface="+mn-l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419856"/>
            <a:ext cx="100584" cy="100584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3310128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Defines the external service commitment.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4224528"/>
            <a:ext cx="100584" cy="100584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411480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Missing the goal typically carries a penalty.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5029200"/>
            <a:ext cx="100584" cy="100584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491947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Conservative metrics reduce the risk of breach.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9784" y="3501036"/>
            <a:ext cx="2926080" cy="310896"/>
          </a:xfrm>
          <a:prstGeom prst="rect">
            <a:avLst/>
          </a:prstGeom>
          <a:solidFill>
            <a:srgbClr val="F9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5863" y="3501036"/>
            <a:ext cx="2971800" cy="310896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9288" y="3208429"/>
            <a:ext cx="73152" cy="960120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6328" y="2833525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A9A42"/>
                </a:solidFill>
                <a:latin typeface="+mn-lt"/>
              </a:rPr>
              <a:t>SLA commitment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3976525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5C3D"/>
                </a:solidFill>
                <a:latin typeface="+mn-lt"/>
              </a:rPr>
              <a:t>Below commitment
Penalty may 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976525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9C9A"/>
                </a:solidFill>
                <a:latin typeface="+mn-lt"/>
              </a:rPr>
              <a:t>Commitment met
Terms satisfied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4890925"/>
            <a:ext cx="5806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The SLA translates service performance into a customer obligation.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925312"/>
            <a:ext cx="10479024" cy="9144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94476" y="2313099"/>
            <a:ext cx="4126397" cy="245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2C3932"/>
                </a:solidFill>
                <a:latin typeface="+mn-lt"/>
              </a:rPr>
              <a:t>SLA = the promise made to the customer.</a:t>
            </a:r>
          </a:p>
        </p:txBody>
      </p:sp>
    </p:spTree>
    <p:extLst>
      <p:ext uri="{BB962C8B-B14F-4D97-AF65-F5344CB8AC3E}">
        <p14:creationId xmlns:p14="http://schemas.microsoft.com/office/powerpoint/2010/main" val="370242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0205-56CF-A6EE-D6A4-2883579B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lang="en-US"/>
              <a:t>SLO sets the internal performance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81328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9C9A"/>
                </a:solidFill>
                <a:latin typeface="+mn-lt"/>
              </a:rPr>
              <a:t>SERVICE LEVEL OBJECTIVE  / 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6592" y="1965960"/>
            <a:ext cx="9144" cy="3822191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2011680"/>
            <a:ext cx="3611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932"/>
                </a:solidFill>
                <a:latin typeface="+mn-lt"/>
              </a:rPr>
              <a:t>An internal target used to manage service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419856"/>
            <a:ext cx="100584" cy="100584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3310128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Usually more stringent than the SLA commitment.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4224528"/>
            <a:ext cx="100584" cy="100584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411480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Creates room to act before the customer promise is at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5029200"/>
            <a:ext cx="100584" cy="100584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491947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The gap between SLA and SLO represents the error budget.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5394960" y="3657600"/>
            <a:ext cx="5623560" cy="54863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565392" y="3520440"/>
            <a:ext cx="2788920" cy="329184"/>
          </a:xfrm>
          <a:prstGeom prst="rect">
            <a:avLst/>
          </a:prstGeom>
          <a:solidFill>
            <a:srgbClr val="FDF6EA"/>
          </a:solidFill>
          <a:ln w="12700">
            <a:solidFill>
              <a:srgbClr val="FA9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28816" y="3236976"/>
            <a:ext cx="73152" cy="1051560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17736" y="3236976"/>
            <a:ext cx="73152" cy="1051560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879592" y="2816352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A9A42"/>
                </a:solidFill>
                <a:latin typeface="+mn-lt"/>
              </a:rPr>
              <a:t>SLA commitment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816352"/>
            <a:ext cx="1417320" cy="214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69C9A"/>
                </a:solidFill>
                <a:latin typeface="+mn-lt"/>
              </a:rPr>
              <a:t>SLO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3922776"/>
            <a:ext cx="2651760" cy="440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2C3932"/>
                </a:solidFill>
                <a:latin typeface="+mn-lt"/>
              </a:rPr>
              <a:t>ERROR BUDGET /
OPERATING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4846320"/>
            <a:ext cx="5806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 dirty="0">
                <a:solidFill>
                  <a:srgbClr val="2C3932"/>
                </a:solidFill>
                <a:latin typeface="+mn-lt"/>
              </a:rPr>
              <a:t>Track performance against the SLO before the SLA is threatened.</a:t>
            </a:r>
          </a:p>
        </p:txBody>
      </p:sp>
      <p:sp>
        <p:nvSpPr>
          <p:cNvPr id="22" name="Rectangle 21"/>
          <p:cNvSpPr>
            <a:spLocks/>
          </p:cNvSpPr>
          <p:nvPr/>
        </p:nvSpPr>
        <p:spPr>
          <a:xfrm>
            <a:off x="786384" y="5925312"/>
            <a:ext cx="10479024" cy="9144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5911596" y="2274630"/>
            <a:ext cx="4352544" cy="245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2C3932"/>
                </a:solidFill>
                <a:latin typeface="+mn-lt"/>
              </a:rPr>
              <a:t>SLO = the target the team operates toward.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0205-56CF-A6EE-D6A4-2883579B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/>
            <a:r>
              <a:rPr lang="en-US"/>
              <a:t>SLI measures actual service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81328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9A42"/>
                </a:solidFill>
                <a:latin typeface="+mn-lt"/>
              </a:rPr>
              <a:t>SERVICE LEVEL INDICATOR  / 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6592" y="1965960"/>
            <a:ext cx="9144" cy="3822191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2011680"/>
            <a:ext cx="3611880" cy="1143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C3932"/>
                </a:solidFill>
                <a:latin typeface="+mn-lt"/>
              </a:rPr>
              <a:t>A quantifiable metric that reports </a:t>
            </a:r>
            <a:r>
              <a:rPr lang="en-US" sz="2400" b="1" i="0">
                <a:solidFill>
                  <a:srgbClr val="2C3932"/>
                </a:solidFill>
                <a:latin typeface="+mn-lt"/>
              </a:rPr>
              <a:t>actual </a:t>
            </a:r>
            <a:r>
              <a:rPr sz="2400" b="1" i="0">
                <a:solidFill>
                  <a:srgbClr val="2C3932"/>
                </a:solidFill>
                <a:latin typeface="+mn-lt"/>
              </a:rPr>
              <a:t>service </a:t>
            </a:r>
            <a:r>
              <a:rPr lang="en-US" sz="2400" b="1" i="0">
                <a:solidFill>
                  <a:srgbClr val="2C3932"/>
                </a:solidFill>
                <a:latin typeface="+mn-lt"/>
              </a:rPr>
              <a:t>performance</a:t>
            </a:r>
            <a:r>
              <a:rPr sz="2400" b="1" i="0">
                <a:solidFill>
                  <a:srgbClr val="2C3932"/>
                </a:solidFill>
                <a:latin typeface="+mn-l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419856"/>
            <a:ext cx="100584" cy="100584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3310128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Measures observed service behavior.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4224528"/>
            <a:ext cx="100584" cy="100584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411480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Provides the evidence used to evaluate an SLO.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5029200"/>
            <a:ext cx="100584" cy="100584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491947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C3932"/>
                </a:solidFill>
                <a:latin typeface="+mn-lt"/>
              </a:rPr>
              <a:t>Common signals include availability, response time, and throughput.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3191256"/>
            <a:ext cx="5715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66706A"/>
                </a:solidFill>
                <a:latin typeface="+mn-lt"/>
              </a:rPr>
              <a:t>OBSERVED SERVICE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3456432"/>
            <a:ext cx="187451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3932"/>
                </a:solidFill>
                <a:latin typeface="+mn-lt"/>
              </a:rPr>
              <a:t>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3611880"/>
            <a:ext cx="3255264" cy="36576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63456" y="3529584"/>
            <a:ext cx="201168" cy="201168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0" y="3346704"/>
            <a:ext cx="7863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169C9A"/>
                </a:solidFill>
                <a:latin typeface="+mn-lt"/>
              </a:rPr>
              <a:t>observed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4160520"/>
            <a:ext cx="187451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3932"/>
                </a:solidFill>
                <a:latin typeface="+mn-lt"/>
              </a:rPr>
              <a:t>Response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4315968"/>
            <a:ext cx="3255264" cy="36576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92056" y="4233671"/>
            <a:ext cx="201168" cy="201168"/>
          </a:xfrm>
          <a:prstGeom prst="ellipse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3798" y="4078223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A9A42"/>
                </a:solidFill>
                <a:latin typeface="+mn-lt"/>
              </a:rPr>
              <a:t>observed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4864608"/>
            <a:ext cx="187451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3932"/>
                </a:solidFill>
                <a:latin typeface="+mn-lt"/>
              </a:rPr>
              <a:t>Throughput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5020056"/>
            <a:ext cx="3255264" cy="36576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20656" y="4937759"/>
            <a:ext cx="201168" cy="201168"/>
          </a:xfrm>
          <a:prstGeom prst="ellipse">
            <a:avLst/>
          </a:prstGeom>
          <a:solidFill>
            <a:srgbClr val="E1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48672" y="4773168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E15C3D"/>
                </a:solidFill>
                <a:latin typeface="+mn-lt"/>
              </a:rPr>
              <a:t>observed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69780" y="3419856"/>
            <a:ext cx="45720" cy="1810512"/>
          </a:xfrm>
          <a:prstGeom prst="rect">
            <a:avLst/>
          </a:prstGeom>
          <a:solidFill>
            <a:srgbClr val="66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3488" y="5431536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6A"/>
                </a:solidFill>
                <a:latin typeface="+mn-lt"/>
              </a:rPr>
              <a:t>Each reading is a measurable SLI.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5925312"/>
            <a:ext cx="10479024" cy="9144"/>
          </a:xfrm>
          <a:prstGeom prst="rect">
            <a:avLst/>
          </a:prstGeom>
          <a:solidFill>
            <a:srgbClr val="CD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90616" y="2327930"/>
            <a:ext cx="4925568" cy="245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2C3932"/>
                </a:solidFill>
                <a:latin typeface="+mn-lt"/>
              </a:rPr>
              <a:t>SLI = the measurement compared with the target.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6F997C-4522-E60F-D2C5-E7D63595FB3E}"/>
              </a:ext>
            </a:extLst>
          </p:cNvPr>
          <p:cNvSpPr txBox="1"/>
          <p:nvPr/>
        </p:nvSpPr>
        <p:spPr>
          <a:xfrm>
            <a:off x="9381744" y="3180091"/>
            <a:ext cx="621792" cy="16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66706A"/>
                </a:solidFill>
              </a:rPr>
              <a:t>TARGET</a:t>
            </a:r>
            <a:endParaRPr sz="1100" b="1" i="0" dirty="0">
              <a:solidFill>
                <a:srgbClr val="66706A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9ED8-6199-99B2-8A48-8B882FB5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E3B7-9A9C-2212-3621-636290494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08" y="438912"/>
            <a:ext cx="10698480" cy="502920"/>
          </a:xfrm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700" b="1">
                <a:solidFill>
                  <a:srgbClr val="2C3932"/>
                </a:solidFill>
                <a:latin typeface="+mn-lt"/>
              </a:rPr>
              <a:t>Common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98755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9C9A"/>
                </a:solidFill>
                <a:latin typeface="+mn-lt"/>
              </a:rPr>
              <a:t>CAPACITY  ·  SPEED  · 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371600"/>
            <a:ext cx="10652760" cy="18288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50791" y="1664208"/>
            <a:ext cx="18288" cy="4352544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19872" y="1664208"/>
            <a:ext cx="18288" cy="4352544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00784"/>
            <a:ext cx="28529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9C9A"/>
                </a:solidFill>
                <a:latin typeface="+mn-lt"/>
              </a:rPr>
              <a:t>01  / 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C3932"/>
                </a:solidFill>
                <a:latin typeface="+mn-lt"/>
              </a:rPr>
              <a:t>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96312"/>
            <a:ext cx="2880360" cy="501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2C3932"/>
                </a:solidFill>
                <a:latin typeface="+mn-lt"/>
              </a:rPr>
              <a:t>Work completed</a:t>
            </a:r>
            <a:r>
              <a:rPr sz="1600" b="0" i="0">
                <a:solidFill>
                  <a:srgbClr val="2C3932"/>
                </a:solidFill>
                <a:latin typeface="+mn-lt"/>
              </a:rPr>
              <a:t> within a defined time interval.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182112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736D"/>
                </a:solidFill>
                <a:latin typeface="+mn-lt"/>
              </a:rPr>
              <a:t>COMPLETED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822191"/>
            <a:ext cx="2578608" cy="36576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73552" y="3502152"/>
            <a:ext cx="54864" cy="768096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1833" y="3630167"/>
            <a:ext cx="146304" cy="146304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35024" y="3913632"/>
            <a:ext cx="146304" cy="146304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709929" y="3630167"/>
            <a:ext cx="146304" cy="146304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03120" y="3913632"/>
            <a:ext cx="146304" cy="146304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78025" y="3630167"/>
            <a:ext cx="146304" cy="146304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871216" y="3913632"/>
            <a:ext cx="146304" cy="146304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88336" y="3273552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A9A42"/>
                </a:solidFill>
                <a:latin typeface="+mn-lt"/>
              </a:rPr>
              <a:t>TIME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480560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9736D"/>
                </a:solidFill>
                <a:latin typeface="+mn-lt"/>
              </a:rPr>
              <a:t>Typical units: requests/second or transactions/minute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102352"/>
            <a:ext cx="2880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932"/>
                </a:solidFill>
                <a:latin typeface="+mn-lt"/>
              </a:rPr>
              <a:t>Use it to understand capacity and when demand approaches saturation.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1700784"/>
            <a:ext cx="31272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9A42"/>
                </a:solidFill>
                <a:latin typeface="+mn-lt"/>
              </a:rPr>
              <a:t>02  / 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011680"/>
            <a:ext cx="312724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C3932"/>
                </a:solidFill>
                <a:latin typeface="+mn-lt"/>
              </a:rPr>
              <a:t>Response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2496312"/>
            <a:ext cx="3127248" cy="501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2C3932"/>
                </a:solidFill>
                <a:latin typeface="+mn-lt"/>
              </a:rPr>
              <a:t>Elapsed time from </a:t>
            </a:r>
            <a:r>
              <a:rPr sz="1600" b="0" i="0">
                <a:solidFill>
                  <a:srgbClr val="2C3932"/>
                </a:solidFill>
                <a:latin typeface="+mn-lt"/>
              </a:rPr>
              <a:t>a request </a:t>
            </a:r>
            <a:r>
              <a:rPr lang="en-US" sz="1600" b="0" i="0">
                <a:solidFill>
                  <a:srgbClr val="2C3932"/>
                </a:solidFill>
                <a:latin typeface="+mn-lt"/>
              </a:rPr>
              <a:t>to its</a:t>
            </a:r>
            <a:r>
              <a:rPr sz="1600" b="0" i="0">
                <a:solidFill>
                  <a:srgbClr val="2C3932"/>
                </a:solidFill>
                <a:latin typeface="+mn-lt"/>
              </a:rPr>
              <a:t>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182112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736D"/>
                </a:solidFill>
                <a:latin typeface="+mn-lt"/>
              </a:rPr>
              <a:t>ELAPSED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803904"/>
            <a:ext cx="2331720" cy="36576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90288" y="3739896"/>
            <a:ext cx="164592" cy="164592"/>
          </a:xfrm>
          <a:prstGeom prst="ellipse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12864" y="3739896"/>
            <a:ext cx="164592" cy="164592"/>
          </a:xfrm>
          <a:prstGeom prst="ellipse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3685032"/>
            <a:ext cx="27432" cy="274320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86016" y="3685032"/>
            <a:ext cx="27432" cy="274320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7408" y="4050791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A9A42"/>
                </a:solidFill>
                <a:latin typeface="+mn-lt"/>
              </a:rPr>
              <a:t>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050791"/>
            <a:ext cx="1078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9C9A"/>
                </a:solidFill>
                <a:latin typeface="+mn-lt"/>
              </a:rP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3502152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3932"/>
                </a:solidFill>
                <a:latin typeface="+mn-lt"/>
              </a:rPr>
              <a:t>duration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480560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9736D"/>
                </a:solidFill>
                <a:latin typeface="+mn-lt"/>
              </a:rPr>
              <a:t>Typical units: milliseconds or seconds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5102352"/>
            <a:ext cx="31272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932"/>
                </a:solidFill>
                <a:latin typeface="+mn-lt"/>
              </a:rPr>
              <a:t>Use percentiles to see typical performance and tail latency.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1700784"/>
            <a:ext cx="29443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9072"/>
                </a:solidFill>
                <a:latin typeface="+mn-lt"/>
              </a:rPr>
              <a:t>03  /  RELIABILITY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2011680"/>
            <a:ext cx="29443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C3932"/>
                </a:solidFill>
                <a:latin typeface="+mn-lt"/>
              </a:rPr>
              <a:t>Availability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2496312"/>
            <a:ext cx="2944368" cy="501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2C3932"/>
                </a:solidFill>
                <a:latin typeface="+mn-lt"/>
              </a:rPr>
              <a:t>Accessible </a:t>
            </a:r>
            <a:r>
              <a:rPr sz="1600" b="0" i="0">
                <a:solidFill>
                  <a:srgbClr val="2C3932"/>
                </a:solidFill>
                <a:latin typeface="+mn-lt"/>
              </a:rPr>
              <a:t>service </a:t>
            </a:r>
            <a:r>
              <a:rPr lang="en-US" sz="1600" b="0" i="0">
                <a:solidFill>
                  <a:srgbClr val="2C3932"/>
                </a:solidFill>
                <a:latin typeface="+mn-lt"/>
              </a:rPr>
              <a:t>time within a stated measurement</a:t>
            </a:r>
            <a:r>
              <a:rPr sz="1600" b="0" i="0">
                <a:solidFill>
                  <a:srgbClr val="2C3932"/>
                </a:solidFill>
                <a:latin typeface="+mn-lt"/>
              </a:rPr>
              <a:t> window.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7344" y="3182112"/>
            <a:ext cx="2944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736D"/>
                </a:solidFill>
                <a:latin typeface="+mn-lt"/>
              </a:rPr>
              <a:t>SERVICE TIMELINE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3712463"/>
            <a:ext cx="969264" cy="201168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18904" y="3712463"/>
            <a:ext cx="384048" cy="201168"/>
          </a:xfrm>
          <a:prstGeom prst="rect">
            <a:avLst/>
          </a:prstGeom>
          <a:solidFill>
            <a:srgbClr val="FC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902952" y="3712463"/>
            <a:ext cx="1298448" cy="201168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49640" y="4005072"/>
            <a:ext cx="9692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9C9A"/>
                </a:solidFill>
                <a:latin typeface="+mn-lt"/>
              </a:rPr>
              <a:t>AVAILABLE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54896" y="400507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A9A42"/>
                </a:solidFill>
                <a:latin typeface="+mn-lt"/>
              </a:rPr>
              <a:t>OUTAGE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03536" y="400507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9C9A"/>
                </a:solidFill>
                <a:latin typeface="+mn-lt"/>
              </a:rPr>
              <a:t>AVAILABLE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4480560"/>
            <a:ext cx="29443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9736D"/>
                </a:solidFill>
                <a:latin typeface="+mn-lt"/>
              </a:rPr>
              <a:t>Typical unit: percentage over a stated time window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7344" y="5102352"/>
            <a:ext cx="294436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932"/>
                </a:solidFill>
                <a:latin typeface="+mn-lt"/>
              </a:rPr>
              <a:t>Define the endpoint, region, and time window before interpreting it.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" y="6016752"/>
            <a:ext cx="10652760" cy="18288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68096" y="6245352"/>
            <a:ext cx="246888" cy="64008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43000" y="6089904"/>
            <a:ext cx="10104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932"/>
                </a:solidFill>
                <a:latin typeface="+mn-lt"/>
              </a:rPr>
              <a:t>Together, the three metrics show how much work is done, how fast, and how reliably.</a:t>
            </a:r>
          </a:p>
        </p:txBody>
      </p:sp>
    </p:spTree>
    <p:extLst>
      <p:ext uri="{BB962C8B-B14F-4D97-AF65-F5344CB8AC3E}">
        <p14:creationId xmlns:p14="http://schemas.microsoft.com/office/powerpoint/2010/main" val="1111383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943C-3E45-96F1-CA5E-C992FC5F8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08" y="438912"/>
            <a:ext cx="10698480" cy="502920"/>
          </a:xfrm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700" b="1">
                <a:solidFill>
                  <a:srgbClr val="2C3932"/>
                </a:solidFill>
                <a:latin typeface="+mn-lt"/>
              </a:rPr>
              <a:t>Percentiles reveal the experience behind the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98755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9C9A"/>
                </a:solidFill>
                <a:latin typeface="+mn-lt"/>
              </a:rPr>
              <a:t>READING RESPONSE-TIME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371600"/>
            <a:ext cx="10652760" cy="18288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6276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9736D"/>
                </a:solidFill>
                <a:latin typeface="+mn-lt"/>
              </a:rPr>
              <a:t>100 REQUESTS ORDERED BY RESPONSE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901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9C9A"/>
                </a:solidFill>
                <a:latin typeface="+mn-lt"/>
              </a:rPr>
              <a:t>FASTEST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901952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15C3D"/>
                </a:solidFill>
                <a:latin typeface="+mn-lt"/>
              </a:rPr>
              <a:t>SLOWEST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4532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80968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7404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93840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00276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06712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13149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19585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26021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32457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938893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45329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51766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58202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64638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71074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77510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83946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90383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96819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03255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09691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16127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22563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29000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535436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41872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48308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854744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961180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067616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74053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80489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86925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493361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99797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06233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12670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919106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25542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31978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238414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344850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451287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557723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4159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770595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877031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83467" y="2194560"/>
            <a:ext cx="76634" cy="438912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089904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96340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02776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09212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515648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622084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728520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834957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941393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047829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154265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260701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367137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473574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580010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686446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792882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899318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005754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112191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218627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325063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431499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537935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644371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750808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857244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963680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070116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176552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282988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389424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495861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602297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708733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9815169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921605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0028041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134478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0240914" y="2194560"/>
            <a:ext cx="76634" cy="438912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0347350" y="2194560"/>
            <a:ext cx="76634" cy="438912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0453786" y="2194560"/>
            <a:ext cx="76634" cy="438912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560222" y="2194560"/>
            <a:ext cx="76634" cy="438912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0666658" y="2194560"/>
            <a:ext cx="76634" cy="438912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0773095" y="2194560"/>
            <a:ext cx="76634" cy="438912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0879531" y="2194560"/>
            <a:ext cx="76634" cy="438912"/>
          </a:xfrm>
          <a:prstGeom prst="rect">
            <a:avLst/>
          </a:prstGeom>
          <a:solidFill>
            <a:srgbClr val="E1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0985967" y="2194560"/>
            <a:ext cx="76634" cy="438912"/>
          </a:xfrm>
          <a:prstGeom prst="rect">
            <a:avLst/>
          </a:prstGeom>
          <a:solidFill>
            <a:srgbClr val="E1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1092403" y="2194560"/>
            <a:ext cx="76634" cy="438912"/>
          </a:xfrm>
          <a:prstGeom prst="rect">
            <a:avLst/>
          </a:prstGeom>
          <a:solidFill>
            <a:srgbClr val="E1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1198839" y="2194560"/>
            <a:ext cx="76634" cy="438912"/>
          </a:xfrm>
          <a:prstGeom prst="rect">
            <a:avLst/>
          </a:prstGeom>
          <a:solidFill>
            <a:srgbClr val="E1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305275" y="2194560"/>
            <a:ext cx="76634" cy="438912"/>
          </a:xfrm>
          <a:prstGeom prst="rect">
            <a:avLst/>
          </a:prstGeom>
          <a:solidFill>
            <a:srgbClr val="2C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6076189" y="1901952"/>
            <a:ext cx="45719" cy="914399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0333635" y="1938528"/>
            <a:ext cx="45719" cy="877823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248656" y="283642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69C9A"/>
                </a:solidFill>
                <a:latin typeface="+mn-lt"/>
              </a:rPr>
              <a:t>p50  /  MEDIAN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08592" y="282527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A9A42"/>
                </a:solidFill>
                <a:latin typeface="+mn-lt"/>
              </a:rPr>
              <a:t>p90  /  TAIL BEGINS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016752" y="3081528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736D"/>
                </a:solidFill>
                <a:latin typeface="+mn-lt"/>
              </a:rPr>
              <a:t>ZOOM: SLOWEST 10% OF REQUESTS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16752" y="3419856"/>
            <a:ext cx="2697480" cy="256032"/>
          </a:xfrm>
          <a:prstGeom prst="rect">
            <a:avLst/>
          </a:prstGeom>
          <a:solidFill>
            <a:srgbClr val="FC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14232" y="3419856"/>
            <a:ext cx="2157984" cy="256032"/>
          </a:xfrm>
          <a:prstGeom prst="rect">
            <a:avLst/>
          </a:prstGeom>
          <a:solidFill>
            <a:srgbClr val="F9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872216" y="3419856"/>
            <a:ext cx="539496" cy="256032"/>
          </a:xfrm>
          <a:prstGeom prst="rect">
            <a:avLst/>
          </a:prstGeom>
          <a:solidFill>
            <a:srgbClr val="2C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6016752" y="3273552"/>
            <a:ext cx="32004" cy="640080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714232" y="3273552"/>
            <a:ext cx="32004" cy="640080"/>
          </a:xfrm>
          <a:prstGeom prst="rect">
            <a:avLst/>
          </a:prstGeom>
          <a:solidFill>
            <a:srgbClr val="E1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0872216" y="3273552"/>
            <a:ext cx="32004" cy="640080"/>
          </a:xfrm>
          <a:prstGeom prst="rect">
            <a:avLst/>
          </a:prstGeom>
          <a:solidFill>
            <a:srgbClr val="2C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751576" y="389712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A9A42"/>
                </a:solidFill>
                <a:latin typeface="+mn-lt"/>
              </a:rPr>
              <a:t>p90  ·  100 </a:t>
            </a:r>
            <a:r>
              <a:rPr sz="1400" b="1" i="0" dirty="0" err="1">
                <a:solidFill>
                  <a:srgbClr val="FA9A42"/>
                </a:solidFill>
                <a:latin typeface="+mn-lt"/>
              </a:rPr>
              <a:t>ms</a:t>
            </a:r>
            <a:endParaRPr sz="1400" b="1" i="0" dirty="0">
              <a:solidFill>
                <a:srgbClr val="FA9A42"/>
              </a:solidFill>
              <a:latin typeface="+mn-lt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458200" y="389712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E15C3D"/>
                </a:solidFill>
                <a:latin typeface="+mn-lt"/>
              </a:rPr>
              <a:t>p95  ·  200 </a:t>
            </a:r>
            <a:r>
              <a:rPr sz="1400" b="1" i="0" dirty="0" err="1">
                <a:solidFill>
                  <a:srgbClr val="E15C3D"/>
                </a:solidFill>
                <a:latin typeface="+mn-lt"/>
              </a:rPr>
              <a:t>ms</a:t>
            </a:r>
            <a:endParaRPr sz="1400" b="1" i="0" dirty="0">
              <a:solidFill>
                <a:srgbClr val="E15C3D"/>
              </a:solidFill>
              <a:latin typeface="+mn-lt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627110" y="3915413"/>
            <a:ext cx="1150362" cy="197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 dirty="0">
                <a:latin typeface="+mn-lt"/>
              </a:rPr>
              <a:t>P</a:t>
            </a:r>
            <a:r>
              <a:rPr sz="1300" b="1" i="0" dirty="0">
                <a:latin typeface="+mn-lt"/>
              </a:rPr>
              <a:t>99</a:t>
            </a:r>
            <a:r>
              <a:rPr lang="en-US" sz="1300" b="1" i="0" dirty="0">
                <a:latin typeface="+mn-lt"/>
              </a:rPr>
              <a:t>  </a:t>
            </a:r>
            <a:r>
              <a:rPr lang="en-US" sz="1200" b="1" dirty="0"/>
              <a:t>·</a:t>
            </a:r>
            <a:r>
              <a:rPr lang="en-US" sz="1300" b="1" i="0" dirty="0">
                <a:latin typeface="+mn-lt"/>
              </a:rPr>
              <a:t>  </a:t>
            </a:r>
            <a:r>
              <a:rPr sz="1300" b="1" i="0" dirty="0">
                <a:latin typeface="+mn-lt"/>
              </a:rPr>
              <a:t>300 </a:t>
            </a:r>
            <a:r>
              <a:rPr sz="1300" b="1" i="0" dirty="0" err="1">
                <a:latin typeface="+mn-lt"/>
              </a:rPr>
              <a:t>ms</a:t>
            </a:r>
            <a:endParaRPr sz="1300" b="1" i="0" dirty="0">
              <a:latin typeface="+mn-lt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3456432" y="4389120"/>
            <a:ext cx="18288" cy="1243584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998464" y="4389120"/>
            <a:ext cx="18288" cy="1243584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8540496" y="4389120"/>
            <a:ext cx="18288" cy="1243584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68096" y="437083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9C9A"/>
                </a:solidFill>
                <a:latin typeface="+mn-lt"/>
              </a:rPr>
              <a:t>p50  /  TYPICAL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8096" y="4718304"/>
            <a:ext cx="23317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932"/>
                </a:solidFill>
                <a:latin typeface="+mn-lt"/>
              </a:rPr>
              <a:t>Half of requests are faster and half are slower. A rising p50 signals a broad slowdown.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03320" y="4370832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9A42"/>
                </a:solidFill>
                <a:latin typeface="+mn-lt"/>
              </a:rPr>
              <a:t>p90  /  NORMAL TAIL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703320" y="4718304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932"/>
                </a:solidFill>
                <a:latin typeface="+mn-lt"/>
              </a:rPr>
              <a:t>9 of 10 requests meet or beat 100 ms. The slowest 10% starts here.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54496" y="4370832"/>
            <a:ext cx="20299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C3D"/>
                </a:solidFill>
                <a:latin typeface="+mn-lt"/>
              </a:rPr>
              <a:t>p95  /  SLOW PATH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54496" y="4718304"/>
            <a:ext cx="2029968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932"/>
                </a:solidFill>
                <a:latin typeface="+mn-lt"/>
              </a:rPr>
              <a:t>19 of 20 requests meet or beat 200 ms. Recurring delays become visible.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796528" y="4370832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3932"/>
                </a:solidFill>
                <a:latin typeface="+mn-lt"/>
              </a:rPr>
              <a:t>p99  /  EXTREME TAIL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96528" y="4718304"/>
            <a:ext cx="2615184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932"/>
                </a:solidFill>
                <a:latin typeface="+mn-lt"/>
              </a:rPr>
              <a:t>99 of 100 requests meet or beat 300 ms. Rare, high-impact latency appears here.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8096" y="5797296"/>
            <a:ext cx="10652760" cy="18288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769376" y="6153912"/>
            <a:ext cx="246888" cy="64008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144280" y="5989320"/>
            <a:ext cx="1010412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2C3932"/>
                </a:solidFill>
                <a:latin typeface="+mn-lt"/>
              </a:rPr>
              <a:t>Diagnostic pattern: if p50 stays steady while p99 rises, investigate a tail issue—not a system-wide slowdown.</a:t>
            </a:r>
          </a:p>
        </p:txBody>
      </p:sp>
    </p:spTree>
    <p:extLst>
      <p:ext uri="{BB962C8B-B14F-4D97-AF65-F5344CB8AC3E}">
        <p14:creationId xmlns:p14="http://schemas.microsoft.com/office/powerpoint/2010/main" val="271873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EC83-5938-37A5-F19B-0BCBD08C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08" y="438912"/>
            <a:ext cx="10698480" cy="502920"/>
          </a:xfrm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700" b="1">
                <a:solidFill>
                  <a:srgbClr val="2C3932"/>
                </a:solidFill>
                <a:latin typeface="+mn-lt"/>
              </a:rPr>
              <a:t>Apdex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98755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9C9A"/>
                </a:solidFill>
                <a:latin typeface="+mn-lt"/>
              </a:rPr>
              <a:t>WEIGHTING RESPONSE-TIME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371600"/>
            <a:ext cx="10652760" cy="18288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1682496"/>
            <a:ext cx="193852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C3932"/>
                </a:solidFill>
                <a:latin typeface="+mn-lt"/>
              </a:rPr>
              <a:t>Apdex  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9504" y="1572768"/>
            <a:ext cx="7479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C3932"/>
                </a:solidFill>
                <a:latin typeface="+mn-lt"/>
              </a:rPr>
              <a:t>Satisfied requests  +  (0.5 × Tolerating requests)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9504" y="2039112"/>
            <a:ext cx="7479792" cy="32004"/>
          </a:xfrm>
          <a:prstGeom prst="rect">
            <a:avLst/>
          </a:prstGeom>
          <a:solidFill>
            <a:srgbClr val="2C3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9504" y="2139696"/>
            <a:ext cx="7479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C3932"/>
                </a:solidFill>
                <a:latin typeface="+mn-lt"/>
              </a:rPr>
              <a:t>Total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1728216"/>
            <a:ext cx="859536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9C9A"/>
                </a:solidFill>
                <a:latin typeface="+mn-lt"/>
              </a:rPr>
              <a:t>0–1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0464" y="227685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9736D"/>
                </a:solidFill>
                <a:latin typeface="+mn-lt"/>
              </a:rP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43200"/>
            <a:ext cx="2331720" cy="151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736D"/>
                </a:solidFill>
                <a:latin typeface="+mn-lt"/>
              </a:rPr>
              <a:t>CLASSIFY BY RESPONSE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163824"/>
            <a:ext cx="3063240" cy="310896"/>
          </a:xfrm>
          <a:prstGeom prst="rect">
            <a:avLst/>
          </a:prstGeom>
          <a:solidFill>
            <a:srgbClr val="DD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31336" y="3163824"/>
            <a:ext cx="4800600" cy="310896"/>
          </a:xfrm>
          <a:prstGeom prst="rect">
            <a:avLst/>
          </a:prstGeom>
          <a:solidFill>
            <a:srgbClr val="FC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31936" y="3163824"/>
            <a:ext cx="2788920" cy="310896"/>
          </a:xfrm>
          <a:prstGeom prst="rect">
            <a:avLst/>
          </a:prstGeom>
          <a:solidFill>
            <a:srgbClr val="F9D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31336" y="2999232"/>
            <a:ext cx="41148" cy="694944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31936" y="2999232"/>
            <a:ext cx="41148" cy="694944"/>
          </a:xfrm>
          <a:prstGeom prst="rect">
            <a:avLst/>
          </a:prstGeom>
          <a:solidFill>
            <a:srgbClr val="FA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55848" y="2743200"/>
            <a:ext cx="960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9C9A"/>
                </a:solidFill>
                <a:latin typeface="+mn-lt"/>
              </a:rPr>
              <a:t>TARGET 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3" y="2743200"/>
            <a:ext cx="120700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9A42"/>
                </a:solidFill>
                <a:latin typeface="+mn-lt"/>
              </a:rPr>
              <a:t>4 ×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547872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9C9A"/>
                </a:solidFill>
                <a:latin typeface="+mn-lt"/>
              </a:rPr>
              <a:t>≤ 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3547872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9A42"/>
                </a:solidFill>
                <a:latin typeface="+mn-lt"/>
              </a:rPr>
              <a:t>T &lt; response time ≤ 4T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3547872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15C3D"/>
                </a:solidFill>
                <a:latin typeface="+mn-lt"/>
              </a:rPr>
              <a:t>&gt; 4T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50791" y="4096512"/>
            <a:ext cx="18288" cy="1481328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9872" y="4096512"/>
            <a:ext cx="18288" cy="1481328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4096512"/>
            <a:ext cx="2907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9C9A"/>
                </a:solidFill>
                <a:latin typeface="+mn-lt"/>
              </a:rPr>
              <a:t>SATISFIED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434840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C3932"/>
                </a:solidFill>
                <a:latin typeface="+mn-lt"/>
              </a:rPr>
              <a:t>At or faster than the target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065776"/>
            <a:ext cx="29077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9C9A"/>
                </a:solidFill>
                <a:latin typeface="+mn-lt"/>
              </a:rPr>
              <a:t>WEIGHT  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096512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A9A42"/>
                </a:solidFill>
                <a:latin typeface="+mn-lt"/>
              </a:rPr>
              <a:t>TOLERATING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434840"/>
            <a:ext cx="318211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C3932"/>
                </a:solidFill>
                <a:latin typeface="+mn-lt"/>
              </a:rPr>
              <a:t>Between the target and 4× target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5065776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9A42"/>
                </a:solidFill>
                <a:latin typeface="+mn-lt"/>
              </a:rPr>
              <a:t>WEIGHT  0.5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4096512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5C3D"/>
                </a:solidFill>
                <a:latin typeface="+mn-lt"/>
              </a:rPr>
              <a:t>FRUSTRATED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4434840"/>
            <a:ext cx="29443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C3932"/>
                </a:solidFill>
                <a:latin typeface="+mn-lt"/>
              </a:rPr>
              <a:t>Longer than 4× the target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5065776"/>
            <a:ext cx="29443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C3D"/>
                </a:solidFill>
                <a:latin typeface="+mn-lt"/>
              </a:rPr>
              <a:t>WEIGHT 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5760720"/>
            <a:ext cx="10652760" cy="18288"/>
          </a:xfrm>
          <a:prstGeom prst="rect">
            <a:avLst/>
          </a:prstGeom>
          <a:solidFill>
            <a:srgbClr val="D6D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68096" y="6025896"/>
            <a:ext cx="246888" cy="64008"/>
          </a:xfrm>
          <a:prstGeom prst="rect">
            <a:avLst/>
          </a:prstGeom>
          <a:solidFill>
            <a:srgbClr val="169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43000" y="5975057"/>
            <a:ext cx="10104120" cy="2114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2C3932"/>
                </a:solidFill>
                <a:latin typeface="+mn-lt"/>
              </a:rPr>
              <a:t>Satisfied requests receive full credit; tolerating requests receive half credit; frustrated requests receive none.</a:t>
            </a:r>
          </a:p>
        </p:txBody>
      </p:sp>
    </p:spTree>
    <p:extLst>
      <p:ext uri="{BB962C8B-B14F-4D97-AF65-F5344CB8AC3E}">
        <p14:creationId xmlns:p14="http://schemas.microsoft.com/office/powerpoint/2010/main" val="37784998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605</Words>
  <Application>Microsoft Office PowerPoint</Application>
  <PresentationFormat>Widescreen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Non-Functional Requirements</vt:lpstr>
      <vt:lpstr>SLA defines the customer-facing commitment</vt:lpstr>
      <vt:lpstr>SLO sets the internal performance target</vt:lpstr>
      <vt:lpstr>SLI measures actual service performance</vt:lpstr>
      <vt:lpstr>Common performance metrics</vt:lpstr>
      <vt:lpstr>Percentiles reveal the experience behind the average</vt:lpstr>
      <vt:lpstr>Apdex score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8</cp:revision>
  <dcterms:created xsi:type="dcterms:W3CDTF">2026-03-16T18:08:37Z</dcterms:created>
  <dcterms:modified xsi:type="dcterms:W3CDTF">2026-10-16T13:08:49Z</dcterms:modified>
</cp:coreProperties>
</file>